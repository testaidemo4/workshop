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everyone ships one working, interactive widget to a shared live web page — writing zero code by hand. You drive Codex; it writes the widget and opens the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on purpose — one widget — so everyone finishes and watches their card appear on the shared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 source of confusion. The connector only reads. Codex is the agent that branches, commits, and opens PRs. Make sure everyone can see Codex in the ChatGPT left nav before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once. Steps 1 and 5 are on GitHub; step 3 is in Codex; steps 2, 4, 6 are automated by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registers a widget with the same shape; what differs is what mount() builds — a counter, a tip calculator, a color mixer, etc. Point them at examples/example-widget.js to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check (A) is the most common day-of blocker — verify Codex visibility before the session. Emphasize: no local install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Read-only verification. If auth loops: revoke the app under GitHub Authorized Apps, disconnect in ChatGPT, reconnect and grant all repos.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name must start with workshop/ and end with the legal ID — that's what the assignment Action keys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Issue names a specific widget (counter, tip calc, color mixer...) and repeats the contract. Have them read it before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them at examples/example-widget.js to copy the pattern. The 'do not edit shared files' line keeps 30 PRs conflict-free.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habit of reviewing AI output before trusting it — a real engineering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local setup. The validation lives in the PR check on GitHub's runners.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 check is the source of truth. If red, they paste the log to Codex and push again — a great CI-reading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After you merge in batches, everyone refreshes the live wall and watches the class fill in. Pages can take a minute to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visible during the build. The 'no editing shared files' rule is both a safety rule and the thing that keeps everyone's PRs mergeable.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Kick them off. Circulate while branches are created and Issues land. Merge green PRs in batches and watch the wall fill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1554480"/>
            <a:ext cx="9144000" cy="365760"/>
          </a:xfrm>
          <a:prstGeom prst="rect">
            <a:avLst/>
          </a:prstGeom>
          <a:noFill/>
          <a:ln/>
        </p:spPr>
        <p:txBody>
          <a:bodyPr wrap="square" rtlCol="0" anchor="ctr"/>
          <a:lstStyle/>
          <a:p>
            <a:pPr indent="0" marL="0">
              <a:buNone/>
            </a:pPr>
            <a:r>
              <a:rPr lang="en-US" sz="1500" b="1" spc="400" kern="0" dirty="0">
                <a:solidFill>
                  <a:srgbClr val="3FB950"/>
                </a:solidFill>
                <a:latin typeface="Calibri" pitchFamily="34" charset="0"/>
                <a:ea typeface="Calibri" pitchFamily="34" charset="-122"/>
                <a:cs typeface="Calibri" pitchFamily="34" charset="-120"/>
              </a:rPr>
              <a:t>HANDS-ON WORKSHOP</a:t>
            </a:r>
            <a:endParaRPr lang="en-US" sz="1500" dirty="0"/>
          </a:p>
        </p:txBody>
      </p:sp>
      <p:sp>
        <p:nvSpPr>
          <p:cNvPr id="3" name="Text 1"/>
          <p:cNvSpPr/>
          <p:nvPr/>
        </p:nvSpPr>
        <p:spPr>
          <a:xfrm>
            <a:off x="640080" y="2011680"/>
            <a:ext cx="10515600" cy="118872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Build with Codex + GitHub</a:t>
            </a:r>
            <a:endParaRPr lang="en-US" sz="5400" dirty="0"/>
          </a:p>
        </p:txBody>
      </p:sp>
      <p:sp>
        <p:nvSpPr>
          <p:cNvPr id="4" name="Text 2"/>
          <p:cNvSpPr/>
          <p:nvPr/>
        </p:nvSpPr>
        <p:spPr>
          <a:xfrm>
            <a:off x="640080" y="3246120"/>
            <a:ext cx="10058400" cy="548640"/>
          </a:xfrm>
          <a:prstGeom prst="rect">
            <a:avLst/>
          </a:prstGeom>
          <a:noFill/>
          <a:ln/>
        </p:spPr>
        <p:txBody>
          <a:bodyPr wrap="square" rtlCol="0" anchor="ctr"/>
          <a:lstStyle/>
          <a:p>
            <a:pPr indent="0" marL="0">
              <a:buNone/>
            </a:pPr>
            <a:r>
              <a:rPr lang="en-US" sz="2200" dirty="0">
                <a:solidFill>
                  <a:srgbClr val="8B949E"/>
                </a:solidFill>
                <a:latin typeface="Calibri" pitchFamily="34" charset="0"/>
                <a:ea typeface="Calibri" pitchFamily="34" charset="-122"/>
                <a:cs typeface="Calibri" pitchFamily="34" charset="-120"/>
              </a:rPr>
              <a:t>Ship one interactive widget — using only AI prompts.</a:t>
            </a:r>
            <a:endParaRPr lang="en-US" sz="2200" dirty="0"/>
          </a:p>
        </p:txBody>
      </p:sp>
      <p:sp>
        <p:nvSpPr>
          <p:cNvPr id="5" name="Shape 3"/>
          <p:cNvSpPr/>
          <p:nvPr/>
        </p:nvSpPr>
        <p:spPr>
          <a:xfrm>
            <a:off x="640080" y="4206240"/>
            <a:ext cx="237744" cy="237744"/>
          </a:xfrm>
          <a:prstGeom prst="ellipse">
            <a:avLst/>
          </a:prstGeom>
          <a:solidFill>
            <a:srgbClr val="3FB950"/>
          </a:solidFill>
          <a:ln/>
        </p:spPr>
      </p:sp>
      <p:sp>
        <p:nvSpPr>
          <p:cNvPr id="6" name="Shape 4"/>
          <p:cNvSpPr/>
          <p:nvPr/>
        </p:nvSpPr>
        <p:spPr>
          <a:xfrm>
            <a:off x="1024128" y="4206240"/>
            <a:ext cx="237744" cy="237744"/>
          </a:xfrm>
          <a:prstGeom prst="ellipse">
            <a:avLst/>
          </a:prstGeom>
          <a:solidFill>
            <a:srgbClr val="A371F7"/>
          </a:solidFill>
          <a:ln/>
        </p:spPr>
      </p:sp>
      <p:sp>
        <p:nvSpPr>
          <p:cNvPr id="7" name="Shape 5"/>
          <p:cNvSpPr/>
          <p:nvPr/>
        </p:nvSpPr>
        <p:spPr>
          <a:xfrm>
            <a:off x="1408176" y="4206240"/>
            <a:ext cx="237744" cy="237744"/>
          </a:xfrm>
          <a:prstGeom prst="ellipse">
            <a:avLst/>
          </a:prstGeom>
          <a:solidFill>
            <a:srgbClr val="2F81F7"/>
          </a:solidFill>
          <a:ln/>
        </p:spPr>
      </p:sp>
      <p:sp>
        <p:nvSpPr>
          <p:cNvPr id="8" name="Text 6"/>
          <p:cNvSpPr/>
          <p:nvPr/>
        </p:nvSpPr>
        <p:spPr>
          <a:xfrm>
            <a:off x="640080" y="5852160"/>
            <a:ext cx="9144000" cy="365760"/>
          </a:xfrm>
          <a:prstGeom prst="rect">
            <a:avLst/>
          </a:prstGeom>
          <a:noFill/>
          <a:ln/>
        </p:spPr>
        <p:txBody>
          <a:bodyPr wrap="square" rtlCol="0" anchor="ctr"/>
          <a:lstStyle/>
          <a:p>
            <a:pPr indent="0" marL="0">
              <a:buNone/>
            </a:pPr>
            <a:r>
              <a:rPr lang="en-US" sz="1400" dirty="0">
                <a:solidFill>
                  <a:srgbClr val="8B949E"/>
                </a:solidFill>
                <a:latin typeface="Calibri" pitchFamily="34" charset="0"/>
                <a:ea typeface="Calibri" pitchFamily="34" charset="-122"/>
                <a:cs typeface="Calibri" pitchFamily="34" charset="-120"/>
              </a:rPr>
              <a:t>LN Network  ·  Facilitated by Dar Pagdulagan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THE GOAL</a:t>
            </a:r>
            <a:endParaRPr lang="en-US" sz="1300" dirty="0"/>
          </a:p>
        </p:txBody>
      </p:sp>
      <p:sp>
        <p:nvSpPr>
          <p:cNvPr id="3" name="Text 1"/>
          <p:cNvSpPr/>
          <p:nvPr/>
        </p:nvSpPr>
        <p:spPr>
          <a:xfrm>
            <a:off x="640080" y="749808"/>
            <a:ext cx="10911535" cy="8229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One engineer. One widget. One pull request.</a:t>
            </a:r>
            <a:endParaRPr lang="en-US" sz="3400" dirty="0"/>
          </a:p>
        </p:txBody>
      </p:sp>
      <p:sp>
        <p:nvSpPr>
          <p:cNvPr id="4" name="Shape 2"/>
          <p:cNvSpPr/>
          <p:nvPr/>
        </p:nvSpPr>
        <p:spPr>
          <a:xfrm>
            <a:off x="609448" y="2103120"/>
            <a:ext cx="3383280" cy="2377440"/>
          </a:xfrm>
          <a:prstGeom prst="roundRect">
            <a:avLst>
              <a:gd name="adj" fmla="val 3462"/>
            </a:avLst>
          </a:prstGeom>
          <a:solidFill>
            <a:srgbClr val="161B22"/>
          </a:solidFill>
          <a:ln w="12700">
            <a:solidFill>
              <a:srgbClr val="30363D"/>
            </a:solidFill>
            <a:prstDash val="solid"/>
          </a:ln>
        </p:spPr>
      </p:sp>
      <p:sp>
        <p:nvSpPr>
          <p:cNvPr id="5" name="Text 3"/>
          <p:cNvSpPr/>
          <p:nvPr/>
        </p:nvSpPr>
        <p:spPr>
          <a:xfrm>
            <a:off x="609448" y="2331720"/>
            <a:ext cx="3383280" cy="1097280"/>
          </a:xfrm>
          <a:prstGeom prst="rect">
            <a:avLst/>
          </a:prstGeom>
          <a:noFill/>
          <a:ln/>
        </p:spPr>
        <p:txBody>
          <a:bodyPr wrap="square" rtlCol="0" anchor="ctr"/>
          <a:lstStyle/>
          <a:p>
            <a:pPr algn="ctr" indent="0" marL="0">
              <a:buNone/>
            </a:pPr>
            <a:r>
              <a:rPr lang="en-US" sz="6600" b="1" dirty="0">
                <a:solidFill>
                  <a:srgbClr val="3FB950"/>
                </a:solidFill>
                <a:latin typeface="Calibri" pitchFamily="34" charset="0"/>
                <a:ea typeface="Calibri" pitchFamily="34" charset="-122"/>
                <a:cs typeface="Calibri" pitchFamily="34" charset="-120"/>
              </a:rPr>
              <a:t>1</a:t>
            </a:r>
            <a:endParaRPr lang="en-US" sz="6600" dirty="0"/>
          </a:p>
        </p:txBody>
      </p:sp>
      <p:sp>
        <p:nvSpPr>
          <p:cNvPr id="6" name="Text 4"/>
          <p:cNvSpPr/>
          <p:nvPr/>
        </p:nvSpPr>
        <p:spPr>
          <a:xfrm>
            <a:off x="883768" y="3429000"/>
            <a:ext cx="2834640" cy="822960"/>
          </a:xfrm>
          <a:prstGeom prst="rect">
            <a:avLst/>
          </a:prstGeom>
          <a:noFill/>
          <a:ln/>
        </p:spPr>
        <p:txBody>
          <a:bodyPr wrap="square"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shared live page —</a:t>
            </a:r>
            <a:endParaRPr lang="en-US" sz="1500" dirty="0"/>
          </a:p>
          <a:p>
            <a:pPr algn="ctr" indent="0" marL="0">
              <a:buNone/>
            </a:pPr>
            <a:r>
              <a:rPr lang="en-US" sz="1500" dirty="0">
                <a:solidFill>
                  <a:srgbClr val="E6EDF3"/>
                </a:solidFill>
                <a:latin typeface="Calibri" pitchFamily="34" charset="0"/>
                <a:ea typeface="Calibri" pitchFamily="34" charset="-122"/>
                <a:cs typeface="Calibri" pitchFamily="34" charset="-120"/>
              </a:rPr>
              <a:t>the Widget Wall</a:t>
            </a:r>
            <a:endParaRPr lang="en-US" sz="1500" dirty="0"/>
          </a:p>
        </p:txBody>
      </p:sp>
      <p:sp>
        <p:nvSpPr>
          <p:cNvPr id="7" name="Shape 5"/>
          <p:cNvSpPr/>
          <p:nvPr/>
        </p:nvSpPr>
        <p:spPr>
          <a:xfrm>
            <a:off x="4404208" y="2103120"/>
            <a:ext cx="3383280" cy="2377440"/>
          </a:xfrm>
          <a:prstGeom prst="roundRect">
            <a:avLst>
              <a:gd name="adj" fmla="val 3462"/>
            </a:avLst>
          </a:prstGeom>
          <a:solidFill>
            <a:srgbClr val="161B22"/>
          </a:solidFill>
          <a:ln w="12700">
            <a:solidFill>
              <a:srgbClr val="30363D"/>
            </a:solidFill>
            <a:prstDash val="solid"/>
          </a:ln>
        </p:spPr>
      </p:sp>
      <p:sp>
        <p:nvSpPr>
          <p:cNvPr id="8" name="Text 6"/>
          <p:cNvSpPr/>
          <p:nvPr/>
        </p:nvSpPr>
        <p:spPr>
          <a:xfrm>
            <a:off x="4404208" y="2331720"/>
            <a:ext cx="3383280" cy="1097280"/>
          </a:xfrm>
          <a:prstGeom prst="rect">
            <a:avLst/>
          </a:prstGeom>
          <a:noFill/>
          <a:ln/>
        </p:spPr>
        <p:txBody>
          <a:bodyPr wrap="square" rtlCol="0" anchor="ctr"/>
          <a:lstStyle/>
          <a:p>
            <a:pPr algn="ctr" indent="0" marL="0">
              <a:buNone/>
            </a:pPr>
            <a:r>
              <a:rPr lang="en-US" sz="6600" b="1" dirty="0">
                <a:solidFill>
                  <a:srgbClr val="A371F7"/>
                </a:solidFill>
                <a:latin typeface="Calibri" pitchFamily="34" charset="0"/>
                <a:ea typeface="Calibri" pitchFamily="34" charset="-122"/>
                <a:cs typeface="Calibri" pitchFamily="34" charset="-120"/>
              </a:rPr>
              <a:t>30</a:t>
            </a:r>
            <a:endParaRPr lang="en-US" sz="6600" dirty="0"/>
          </a:p>
        </p:txBody>
      </p:sp>
      <p:sp>
        <p:nvSpPr>
          <p:cNvPr id="9" name="Text 7"/>
          <p:cNvSpPr/>
          <p:nvPr/>
        </p:nvSpPr>
        <p:spPr>
          <a:xfrm>
            <a:off x="4678528" y="3429000"/>
            <a:ext cx="2834640" cy="822960"/>
          </a:xfrm>
          <a:prstGeom prst="rect">
            <a:avLst/>
          </a:prstGeom>
          <a:noFill/>
          <a:ln/>
        </p:spPr>
        <p:txBody>
          <a:bodyPr wrap="square"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engineers, each owning</a:t>
            </a:r>
            <a:endParaRPr lang="en-US" sz="1500" dirty="0"/>
          </a:p>
          <a:p>
            <a:pPr algn="ctr" indent="0" marL="0">
              <a:buNone/>
            </a:pPr>
            <a:r>
              <a:rPr lang="en-US" sz="1500" dirty="0">
                <a:solidFill>
                  <a:srgbClr val="E6EDF3"/>
                </a:solidFill>
                <a:latin typeface="Calibri" pitchFamily="34" charset="0"/>
                <a:ea typeface="Calibri" pitchFamily="34" charset="-122"/>
                <a:cs typeface="Calibri" pitchFamily="34" charset="-120"/>
              </a:rPr>
              <a:t>one widget</a:t>
            </a:r>
            <a:endParaRPr lang="en-US" sz="1500" dirty="0"/>
          </a:p>
        </p:txBody>
      </p:sp>
      <p:sp>
        <p:nvSpPr>
          <p:cNvPr id="10" name="Shape 8"/>
          <p:cNvSpPr/>
          <p:nvPr/>
        </p:nvSpPr>
        <p:spPr>
          <a:xfrm>
            <a:off x="8198968" y="2103120"/>
            <a:ext cx="3383280" cy="2377440"/>
          </a:xfrm>
          <a:prstGeom prst="roundRect">
            <a:avLst>
              <a:gd name="adj" fmla="val 3462"/>
            </a:avLst>
          </a:prstGeom>
          <a:solidFill>
            <a:srgbClr val="161B22"/>
          </a:solidFill>
          <a:ln w="12700">
            <a:solidFill>
              <a:srgbClr val="30363D"/>
            </a:solidFill>
            <a:prstDash val="solid"/>
          </a:ln>
        </p:spPr>
      </p:sp>
      <p:sp>
        <p:nvSpPr>
          <p:cNvPr id="11" name="Text 9"/>
          <p:cNvSpPr/>
          <p:nvPr/>
        </p:nvSpPr>
        <p:spPr>
          <a:xfrm>
            <a:off x="8198968" y="2331720"/>
            <a:ext cx="3383280" cy="1097280"/>
          </a:xfrm>
          <a:prstGeom prst="rect">
            <a:avLst/>
          </a:prstGeom>
          <a:noFill/>
          <a:ln/>
        </p:spPr>
        <p:txBody>
          <a:bodyPr wrap="square" rtlCol="0" anchor="ctr"/>
          <a:lstStyle/>
          <a:p>
            <a:pPr algn="ctr" indent="0" marL="0">
              <a:buNone/>
            </a:pPr>
            <a:r>
              <a:rPr lang="en-US" sz="6600" b="1" dirty="0">
                <a:solidFill>
                  <a:srgbClr val="2F81F7"/>
                </a:solidFill>
                <a:latin typeface="Calibri" pitchFamily="34" charset="0"/>
                <a:ea typeface="Calibri" pitchFamily="34" charset="-122"/>
                <a:cs typeface="Calibri" pitchFamily="34" charset="-120"/>
              </a:rPr>
              <a:t>0</a:t>
            </a:r>
            <a:endParaRPr lang="en-US" sz="6600" dirty="0"/>
          </a:p>
        </p:txBody>
      </p:sp>
      <p:sp>
        <p:nvSpPr>
          <p:cNvPr id="12" name="Text 10"/>
          <p:cNvSpPr/>
          <p:nvPr/>
        </p:nvSpPr>
        <p:spPr>
          <a:xfrm>
            <a:off x="8473288" y="3429000"/>
            <a:ext cx="2834640" cy="822960"/>
          </a:xfrm>
          <a:prstGeom prst="rect">
            <a:avLst/>
          </a:prstGeom>
          <a:noFill/>
          <a:ln/>
        </p:spPr>
        <p:txBody>
          <a:bodyPr wrap="square"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lines of code you</a:t>
            </a:r>
            <a:endParaRPr lang="en-US" sz="1500" dirty="0"/>
          </a:p>
          <a:p>
            <a:pPr algn="ctr" indent="0" marL="0">
              <a:buNone/>
            </a:pPr>
            <a:r>
              <a:rPr lang="en-US" sz="1500" dirty="0">
                <a:solidFill>
                  <a:srgbClr val="E6EDF3"/>
                </a:solidFill>
                <a:latin typeface="Calibri" pitchFamily="34" charset="0"/>
                <a:ea typeface="Calibri" pitchFamily="34" charset="-122"/>
                <a:cs typeface="Calibri" pitchFamily="34" charset="-120"/>
              </a:rPr>
              <a:t>write by hand</a:t>
            </a:r>
            <a:endParaRPr lang="en-US" sz="1500" dirty="0"/>
          </a:p>
        </p:txBody>
      </p:sp>
      <p:sp>
        <p:nvSpPr>
          <p:cNvPr id="13" name="Text 11"/>
          <p:cNvSpPr/>
          <p:nvPr/>
        </p:nvSpPr>
        <p:spPr>
          <a:xfrm>
            <a:off x="640080" y="4937760"/>
            <a:ext cx="10911535" cy="457200"/>
          </a:xfrm>
          <a:prstGeom prst="rect">
            <a:avLst/>
          </a:prstGeom>
          <a:noFill/>
          <a:ln/>
        </p:spPr>
        <p:txBody>
          <a:bodyPr wrap="square" rtlCol="0" anchor="ctr"/>
          <a:lstStyle/>
          <a:p>
            <a:pPr algn="ctr" indent="0" marL="0">
              <a:buNone/>
            </a:pPr>
            <a:r>
              <a:rPr lang="en-US" sz="1600" dirty="0">
                <a:solidFill>
                  <a:srgbClr val="8B949E"/>
                </a:solidFill>
                <a:latin typeface="Calibri" pitchFamily="34" charset="0"/>
                <a:ea typeface="Calibri" pitchFamily="34" charset="-122"/>
                <a:cs typeface="Calibri" pitchFamily="34" charset="-120"/>
              </a:rPr>
              <a:t>By the end you'll have connected Codex, received a task, built a working widget, and merged it to the live wall.</a:t>
            </a:r>
            <a:endParaRPr lang="en-US" sz="1600" dirty="0"/>
          </a:p>
        </p:txBody>
      </p:sp>
      <p:sp>
        <p:nvSpPr>
          <p:cNvPr id="14" name="Text 12"/>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5" name="Text 13"/>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FIRST, ONE DISTINCTION</a:t>
            </a:r>
            <a:endParaRPr lang="en-US" sz="1300" dirty="0"/>
          </a:p>
        </p:txBody>
      </p:sp>
      <p:sp>
        <p:nvSpPr>
          <p:cNvPr id="3" name="Text 1"/>
          <p:cNvSpPr/>
          <p:nvPr/>
        </p:nvSpPr>
        <p:spPr>
          <a:xfrm>
            <a:off x="640080" y="749808"/>
            <a:ext cx="10911535" cy="8229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GitHub connector vs. Codex</a:t>
            </a:r>
            <a:endParaRPr lang="en-US" sz="3400" dirty="0"/>
          </a:p>
        </p:txBody>
      </p:sp>
      <p:sp>
        <p:nvSpPr>
          <p:cNvPr id="4" name="Shape 2"/>
          <p:cNvSpPr/>
          <p:nvPr/>
        </p:nvSpPr>
        <p:spPr>
          <a:xfrm>
            <a:off x="640080" y="2148840"/>
            <a:ext cx="5120640" cy="3108960"/>
          </a:xfrm>
          <a:prstGeom prst="roundRect">
            <a:avLst>
              <a:gd name="adj" fmla="val 2647"/>
            </a:avLst>
          </a:prstGeom>
          <a:solidFill>
            <a:srgbClr val="161B22"/>
          </a:solidFill>
          <a:ln w="12700">
            <a:solidFill>
              <a:srgbClr val="30363D"/>
            </a:solidFill>
            <a:prstDash val="solid"/>
          </a:ln>
        </p:spPr>
      </p:sp>
      <p:sp>
        <p:nvSpPr>
          <p:cNvPr id="5" name="Shape 3"/>
          <p:cNvSpPr/>
          <p:nvPr/>
        </p:nvSpPr>
        <p:spPr>
          <a:xfrm>
            <a:off x="960120" y="2468880"/>
            <a:ext cx="502920" cy="502920"/>
          </a:xfrm>
          <a:prstGeom prst="ellipse">
            <a:avLst/>
          </a:prstGeom>
          <a:solidFill>
            <a:srgbClr val="8B949E"/>
          </a:solidFill>
          <a:ln/>
        </p:spPr>
      </p:sp>
      <p:sp>
        <p:nvSpPr>
          <p:cNvPr id="6" name="Text 4"/>
          <p:cNvSpPr/>
          <p:nvPr/>
        </p:nvSpPr>
        <p:spPr>
          <a:xfrm>
            <a:off x="960120" y="2468880"/>
            <a:ext cx="502920" cy="502920"/>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R</a:t>
            </a:r>
            <a:endParaRPr lang="en-US" sz="1400" dirty="0"/>
          </a:p>
        </p:txBody>
      </p:sp>
      <p:sp>
        <p:nvSpPr>
          <p:cNvPr id="7" name="Text 5"/>
          <p:cNvSpPr/>
          <p:nvPr/>
        </p:nvSpPr>
        <p:spPr>
          <a:xfrm>
            <a:off x="1645920" y="2514600"/>
            <a:ext cx="393192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GitHub connector</a:t>
            </a:r>
            <a:endParaRPr lang="en-US" sz="2000" dirty="0"/>
          </a:p>
        </p:txBody>
      </p:sp>
      <p:sp>
        <p:nvSpPr>
          <p:cNvPr id="8" name="Text 6"/>
          <p:cNvSpPr/>
          <p:nvPr/>
        </p:nvSpPr>
        <p:spPr>
          <a:xfrm>
            <a:off x="1097280" y="3200400"/>
            <a:ext cx="4297680" cy="1828800"/>
          </a:xfrm>
          <a:prstGeom prst="rect">
            <a:avLst/>
          </a:prstGeom>
          <a:noFill/>
          <a:ln/>
        </p:spPr>
        <p:txBody>
          <a:bodyPr wrap="square"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Reads and explains your repo</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Answers questions, cites code</a:t>
            </a:r>
            <a:endParaRPr lang="en-US" sz="1500" dirty="0"/>
          </a:p>
          <a:p>
            <a:pPr marL="342900" indent="-342900">
              <a:buSzPct val="100000"/>
              <a:buChar char="•"/>
            </a:pPr>
            <a:r>
              <a:rPr lang="en-US" sz="1500" dirty="0">
                <a:solidFill>
                  <a:srgbClr val="8B949E"/>
                </a:solidFill>
                <a:latin typeface="Calibri" pitchFamily="34" charset="0"/>
                <a:ea typeface="Calibri" pitchFamily="34" charset="-122"/>
                <a:cs typeface="Calibri" pitchFamily="34" charset="-120"/>
              </a:rPr>
              <a:t>Cannot commit, branch, or open PRs</a:t>
            </a:r>
            <a:endParaRPr lang="en-US" sz="1500" dirty="0"/>
          </a:p>
        </p:txBody>
      </p:sp>
      <p:sp>
        <p:nvSpPr>
          <p:cNvPr id="9" name="Shape 7"/>
          <p:cNvSpPr/>
          <p:nvPr/>
        </p:nvSpPr>
        <p:spPr>
          <a:xfrm>
            <a:off x="6217920" y="2148840"/>
            <a:ext cx="5120640" cy="3108960"/>
          </a:xfrm>
          <a:prstGeom prst="roundRect">
            <a:avLst>
              <a:gd name="adj" fmla="val 2647"/>
            </a:avLst>
          </a:prstGeom>
          <a:solidFill>
            <a:srgbClr val="161B22"/>
          </a:solidFill>
          <a:ln w="12700">
            <a:solidFill>
              <a:srgbClr val="30363D"/>
            </a:solidFill>
            <a:prstDash val="solid"/>
          </a:ln>
        </p:spPr>
      </p:sp>
      <p:sp>
        <p:nvSpPr>
          <p:cNvPr id="10" name="Shape 8"/>
          <p:cNvSpPr/>
          <p:nvPr/>
        </p:nvSpPr>
        <p:spPr>
          <a:xfrm>
            <a:off x="6537960" y="2468880"/>
            <a:ext cx="502920" cy="502920"/>
          </a:xfrm>
          <a:prstGeom prst="ellipse">
            <a:avLst/>
          </a:prstGeom>
          <a:solidFill>
            <a:srgbClr val="A371F7"/>
          </a:solidFill>
          <a:ln/>
        </p:spPr>
      </p:sp>
      <p:sp>
        <p:nvSpPr>
          <p:cNvPr id="11" name="Text 9"/>
          <p:cNvSpPr/>
          <p:nvPr/>
        </p:nvSpPr>
        <p:spPr>
          <a:xfrm>
            <a:off x="6537960" y="2468880"/>
            <a:ext cx="502920" cy="502920"/>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AI</a:t>
            </a:r>
            <a:endParaRPr lang="en-US" sz="1400" dirty="0"/>
          </a:p>
        </p:txBody>
      </p:sp>
      <p:sp>
        <p:nvSpPr>
          <p:cNvPr id="12" name="Text 10"/>
          <p:cNvSpPr/>
          <p:nvPr/>
        </p:nvSpPr>
        <p:spPr>
          <a:xfrm>
            <a:off x="7223760" y="2514600"/>
            <a:ext cx="393192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Codex (the agent)</a:t>
            </a:r>
            <a:endParaRPr lang="en-US" sz="2000" dirty="0"/>
          </a:p>
        </p:txBody>
      </p:sp>
      <p:sp>
        <p:nvSpPr>
          <p:cNvPr id="13" name="Text 11"/>
          <p:cNvSpPr/>
          <p:nvPr/>
        </p:nvSpPr>
        <p:spPr>
          <a:xfrm>
            <a:off x="6675120" y="3200400"/>
            <a:ext cx="4297680" cy="1828800"/>
          </a:xfrm>
          <a:prstGeom prst="rect">
            <a:avLst/>
          </a:prstGeom>
          <a:noFill/>
          <a:ln/>
        </p:spPr>
        <p:txBody>
          <a:bodyPr wrap="square"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Edits code in a sandbox</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Runs tests, commits, pushes</a:t>
            </a:r>
            <a:endParaRPr lang="en-US" sz="1500" dirty="0"/>
          </a:p>
          <a:p>
            <a:pPr marL="342900" indent="-342900">
              <a:buSzPct val="100000"/>
              <a:buChar char="•"/>
            </a:pPr>
            <a:r>
              <a:rPr lang="en-US" sz="1500" b="1" dirty="0">
                <a:solidFill>
                  <a:srgbClr val="3FB950"/>
                </a:solidFill>
                <a:latin typeface="Calibri" pitchFamily="34" charset="0"/>
                <a:ea typeface="Calibri" pitchFamily="34" charset="-122"/>
                <a:cs typeface="Calibri" pitchFamily="34" charset="-120"/>
              </a:rPr>
              <a:t>Opens the pull request</a:t>
            </a:r>
            <a:endParaRPr lang="en-US" sz="1500" dirty="0"/>
          </a:p>
        </p:txBody>
      </p:sp>
      <p:sp>
        <p:nvSpPr>
          <p:cNvPr id="14" name="Text 12"/>
          <p:cNvSpPr/>
          <p:nvPr/>
        </p:nvSpPr>
        <p:spPr>
          <a:xfrm>
            <a:off x="640080" y="5532120"/>
            <a:ext cx="10911535" cy="365760"/>
          </a:xfrm>
          <a:prstGeom prst="rect">
            <a:avLst/>
          </a:prstGeom>
          <a:noFill/>
          <a:ln/>
        </p:spPr>
        <p:txBody>
          <a:bodyPr wrap="square" rtlCol="0" anchor="ctr"/>
          <a:lstStyle/>
          <a:p>
            <a:pPr algn="ctr" indent="0" marL="0">
              <a:buNone/>
            </a:pPr>
            <a:r>
              <a:rPr lang="en-US" sz="1500" i="1" dirty="0">
                <a:solidFill>
                  <a:srgbClr val="3FB950"/>
                </a:solidFill>
                <a:latin typeface="Calibri" pitchFamily="34" charset="0"/>
                <a:ea typeface="Calibri" pitchFamily="34" charset="-122"/>
                <a:cs typeface="Calibri" pitchFamily="34" charset="-120"/>
              </a:rPr>
              <a:t>You need BOTH: connector enabled for repo Q&amp;A, Codex for the actual work.</a:t>
            </a:r>
            <a:endParaRPr lang="en-US" sz="1500" dirty="0"/>
          </a:p>
        </p:txBody>
      </p:sp>
      <p:sp>
        <p:nvSpPr>
          <p:cNvPr id="15" name="Text 13"/>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6" name="Text 14"/>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HOW THE DAY FLOWS</a:t>
            </a:r>
            <a:endParaRPr lang="en-US" sz="1300" dirty="0"/>
          </a:p>
        </p:txBody>
      </p:sp>
      <p:sp>
        <p:nvSpPr>
          <p:cNvPr id="3" name="Text 1"/>
          <p:cNvSpPr/>
          <p:nvPr/>
        </p:nvSpPr>
        <p:spPr>
          <a:xfrm>
            <a:off x="640080" y="749808"/>
            <a:ext cx="10911535" cy="8229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From branch to live wall</a:t>
            </a:r>
            <a:endParaRPr lang="en-US" sz="3400" dirty="0"/>
          </a:p>
        </p:txBody>
      </p:sp>
      <p:sp>
        <p:nvSpPr>
          <p:cNvPr id="4" name="Shape 2"/>
          <p:cNvSpPr/>
          <p:nvPr/>
        </p:nvSpPr>
        <p:spPr>
          <a:xfrm>
            <a:off x="640080" y="2057400"/>
            <a:ext cx="10911535" cy="603504"/>
          </a:xfrm>
          <a:prstGeom prst="roundRect">
            <a:avLst>
              <a:gd name="adj" fmla="val 13636"/>
            </a:avLst>
          </a:prstGeom>
          <a:solidFill>
            <a:srgbClr val="161B22"/>
          </a:solidFill>
          <a:ln w="12700">
            <a:solidFill>
              <a:srgbClr val="30363D"/>
            </a:solidFill>
            <a:prstDash val="solid"/>
          </a:ln>
        </p:spPr>
      </p:sp>
      <p:sp>
        <p:nvSpPr>
          <p:cNvPr id="5" name="Shape 3"/>
          <p:cNvSpPr/>
          <p:nvPr/>
        </p:nvSpPr>
        <p:spPr>
          <a:xfrm>
            <a:off x="786384" y="2157984"/>
            <a:ext cx="402336" cy="402336"/>
          </a:xfrm>
          <a:prstGeom prst="ellipse">
            <a:avLst/>
          </a:prstGeom>
          <a:solidFill>
            <a:srgbClr val="3FB950"/>
          </a:solidFill>
          <a:ln/>
        </p:spPr>
      </p:sp>
      <p:sp>
        <p:nvSpPr>
          <p:cNvPr id="6" name="Text 4"/>
          <p:cNvSpPr/>
          <p:nvPr/>
        </p:nvSpPr>
        <p:spPr>
          <a:xfrm>
            <a:off x="786384" y="2157984"/>
            <a:ext cx="402336" cy="402336"/>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08760" y="2057400"/>
            <a:ext cx="384048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Create your branch</a:t>
            </a:r>
            <a:endParaRPr lang="en-US" sz="1600" dirty="0"/>
          </a:p>
        </p:txBody>
      </p:sp>
      <p:sp>
        <p:nvSpPr>
          <p:cNvPr id="8" name="Text 6"/>
          <p:cNvSpPr/>
          <p:nvPr/>
        </p:nvSpPr>
        <p:spPr>
          <a:xfrm>
            <a:off x="5394960" y="2057400"/>
            <a:ext cx="5973775" cy="603504"/>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workshop/&lt;legal-id&gt; — this fires your task</a:t>
            </a:r>
            <a:endParaRPr lang="en-US" sz="1400" dirty="0"/>
          </a:p>
        </p:txBody>
      </p:sp>
      <p:sp>
        <p:nvSpPr>
          <p:cNvPr id="9" name="Shape 7"/>
          <p:cNvSpPr/>
          <p:nvPr/>
        </p:nvSpPr>
        <p:spPr>
          <a:xfrm>
            <a:off x="640080" y="2779776"/>
            <a:ext cx="10911535" cy="603504"/>
          </a:xfrm>
          <a:prstGeom prst="roundRect">
            <a:avLst>
              <a:gd name="adj" fmla="val 13636"/>
            </a:avLst>
          </a:prstGeom>
          <a:solidFill>
            <a:srgbClr val="161B22"/>
          </a:solidFill>
          <a:ln w="12700">
            <a:solidFill>
              <a:srgbClr val="30363D"/>
            </a:solidFill>
            <a:prstDash val="solid"/>
          </a:ln>
        </p:spPr>
      </p:sp>
      <p:sp>
        <p:nvSpPr>
          <p:cNvPr id="10" name="Shape 8"/>
          <p:cNvSpPr/>
          <p:nvPr/>
        </p:nvSpPr>
        <p:spPr>
          <a:xfrm>
            <a:off x="786384" y="2880360"/>
            <a:ext cx="402336" cy="402336"/>
          </a:xfrm>
          <a:prstGeom prst="ellipse">
            <a:avLst/>
          </a:prstGeom>
          <a:solidFill>
            <a:srgbClr val="3FB950"/>
          </a:solidFill>
          <a:ln/>
        </p:spPr>
      </p:sp>
      <p:sp>
        <p:nvSpPr>
          <p:cNvPr id="11" name="Text 9"/>
          <p:cNvSpPr/>
          <p:nvPr/>
        </p:nvSpPr>
        <p:spPr>
          <a:xfrm>
            <a:off x="786384" y="2880360"/>
            <a:ext cx="402336" cy="402336"/>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508760" y="2779776"/>
            <a:ext cx="384048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Get your task</a:t>
            </a:r>
            <a:endParaRPr lang="en-US" sz="1600" dirty="0"/>
          </a:p>
        </p:txBody>
      </p:sp>
      <p:sp>
        <p:nvSpPr>
          <p:cNvPr id="13" name="Text 11"/>
          <p:cNvSpPr/>
          <p:nvPr/>
        </p:nvSpPr>
        <p:spPr>
          <a:xfrm>
            <a:off x="5394960" y="2779776"/>
            <a:ext cx="5973775" cy="603504"/>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a GitHub Action opens an Issue with your widget spec</a:t>
            </a:r>
            <a:endParaRPr lang="en-US" sz="1400" dirty="0"/>
          </a:p>
        </p:txBody>
      </p:sp>
      <p:sp>
        <p:nvSpPr>
          <p:cNvPr id="14" name="Shape 12"/>
          <p:cNvSpPr/>
          <p:nvPr/>
        </p:nvSpPr>
        <p:spPr>
          <a:xfrm>
            <a:off x="640080" y="3502152"/>
            <a:ext cx="10911535" cy="603504"/>
          </a:xfrm>
          <a:prstGeom prst="roundRect">
            <a:avLst>
              <a:gd name="adj" fmla="val 13636"/>
            </a:avLst>
          </a:prstGeom>
          <a:solidFill>
            <a:srgbClr val="161B22"/>
          </a:solidFill>
          <a:ln w="12700">
            <a:solidFill>
              <a:srgbClr val="30363D"/>
            </a:solidFill>
            <a:prstDash val="solid"/>
          </a:ln>
        </p:spPr>
      </p:sp>
      <p:sp>
        <p:nvSpPr>
          <p:cNvPr id="15" name="Shape 13"/>
          <p:cNvSpPr/>
          <p:nvPr/>
        </p:nvSpPr>
        <p:spPr>
          <a:xfrm>
            <a:off x="786384" y="3602736"/>
            <a:ext cx="402336" cy="402336"/>
          </a:xfrm>
          <a:prstGeom prst="ellipse">
            <a:avLst/>
          </a:prstGeom>
          <a:solidFill>
            <a:srgbClr val="3FB950"/>
          </a:solidFill>
          <a:ln/>
        </p:spPr>
      </p:sp>
      <p:sp>
        <p:nvSpPr>
          <p:cNvPr id="16" name="Text 14"/>
          <p:cNvSpPr/>
          <p:nvPr/>
        </p:nvSpPr>
        <p:spPr>
          <a:xfrm>
            <a:off x="786384" y="3602736"/>
            <a:ext cx="402336" cy="402336"/>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08760" y="3502152"/>
            <a:ext cx="384048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Build with Codex</a:t>
            </a:r>
            <a:endParaRPr lang="en-US" sz="1600" dirty="0"/>
          </a:p>
        </p:txBody>
      </p:sp>
      <p:sp>
        <p:nvSpPr>
          <p:cNvPr id="18" name="Text 16"/>
          <p:cNvSpPr/>
          <p:nvPr/>
        </p:nvSpPr>
        <p:spPr>
          <a:xfrm>
            <a:off x="5394960" y="3502152"/>
            <a:ext cx="5973775" cy="603504"/>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prompt it to write your widget file</a:t>
            </a:r>
            <a:endParaRPr lang="en-US" sz="1400" dirty="0"/>
          </a:p>
        </p:txBody>
      </p:sp>
      <p:sp>
        <p:nvSpPr>
          <p:cNvPr id="19" name="Shape 17"/>
          <p:cNvSpPr/>
          <p:nvPr/>
        </p:nvSpPr>
        <p:spPr>
          <a:xfrm>
            <a:off x="640080" y="4224528"/>
            <a:ext cx="10911535" cy="603504"/>
          </a:xfrm>
          <a:prstGeom prst="roundRect">
            <a:avLst>
              <a:gd name="adj" fmla="val 13636"/>
            </a:avLst>
          </a:prstGeom>
          <a:solidFill>
            <a:srgbClr val="161B22"/>
          </a:solidFill>
          <a:ln w="12700">
            <a:solidFill>
              <a:srgbClr val="30363D"/>
            </a:solidFill>
            <a:prstDash val="solid"/>
          </a:ln>
        </p:spPr>
      </p:sp>
      <p:sp>
        <p:nvSpPr>
          <p:cNvPr id="20" name="Shape 18"/>
          <p:cNvSpPr/>
          <p:nvPr/>
        </p:nvSpPr>
        <p:spPr>
          <a:xfrm>
            <a:off x="786384" y="4325112"/>
            <a:ext cx="402336" cy="402336"/>
          </a:xfrm>
          <a:prstGeom prst="ellipse">
            <a:avLst/>
          </a:prstGeom>
          <a:solidFill>
            <a:srgbClr val="3FB950"/>
          </a:solidFill>
          <a:ln/>
        </p:spPr>
      </p:sp>
      <p:sp>
        <p:nvSpPr>
          <p:cNvPr id="21" name="Text 19"/>
          <p:cNvSpPr/>
          <p:nvPr/>
        </p:nvSpPr>
        <p:spPr>
          <a:xfrm>
            <a:off x="786384" y="4325112"/>
            <a:ext cx="402336" cy="402336"/>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508760" y="4224528"/>
            <a:ext cx="384048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Open a pull request</a:t>
            </a:r>
            <a:endParaRPr lang="en-US" sz="1600" dirty="0"/>
          </a:p>
        </p:txBody>
      </p:sp>
      <p:sp>
        <p:nvSpPr>
          <p:cNvPr id="23" name="Text 21"/>
          <p:cNvSpPr/>
          <p:nvPr/>
        </p:nvSpPr>
        <p:spPr>
          <a:xfrm>
            <a:off x="5394960" y="4224528"/>
            <a:ext cx="5973775" cy="603504"/>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the check loads your widget in a headless browser</a:t>
            </a:r>
            <a:endParaRPr lang="en-US" sz="1400" dirty="0"/>
          </a:p>
        </p:txBody>
      </p:sp>
      <p:sp>
        <p:nvSpPr>
          <p:cNvPr id="24" name="Shape 22"/>
          <p:cNvSpPr/>
          <p:nvPr/>
        </p:nvSpPr>
        <p:spPr>
          <a:xfrm>
            <a:off x="640080" y="4946904"/>
            <a:ext cx="10911535" cy="603504"/>
          </a:xfrm>
          <a:prstGeom prst="roundRect">
            <a:avLst>
              <a:gd name="adj" fmla="val 13636"/>
            </a:avLst>
          </a:prstGeom>
          <a:solidFill>
            <a:srgbClr val="161B22"/>
          </a:solidFill>
          <a:ln w="12700">
            <a:solidFill>
              <a:srgbClr val="30363D"/>
            </a:solidFill>
            <a:prstDash val="solid"/>
          </a:ln>
        </p:spPr>
      </p:sp>
      <p:sp>
        <p:nvSpPr>
          <p:cNvPr id="25" name="Shape 23"/>
          <p:cNvSpPr/>
          <p:nvPr/>
        </p:nvSpPr>
        <p:spPr>
          <a:xfrm>
            <a:off x="786384" y="5047488"/>
            <a:ext cx="402336" cy="402336"/>
          </a:xfrm>
          <a:prstGeom prst="ellipse">
            <a:avLst/>
          </a:prstGeom>
          <a:solidFill>
            <a:srgbClr val="3FB950"/>
          </a:solidFill>
          <a:ln/>
        </p:spPr>
      </p:sp>
      <p:sp>
        <p:nvSpPr>
          <p:cNvPr id="26" name="Text 24"/>
          <p:cNvSpPr/>
          <p:nvPr/>
        </p:nvSpPr>
        <p:spPr>
          <a:xfrm>
            <a:off x="786384" y="5047488"/>
            <a:ext cx="402336" cy="402336"/>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508760" y="4946904"/>
            <a:ext cx="384048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Merge to main</a:t>
            </a:r>
            <a:endParaRPr lang="en-US" sz="1600" dirty="0"/>
          </a:p>
        </p:txBody>
      </p:sp>
      <p:sp>
        <p:nvSpPr>
          <p:cNvPr id="28" name="Text 26"/>
          <p:cNvSpPr/>
          <p:nvPr/>
        </p:nvSpPr>
        <p:spPr>
          <a:xfrm>
            <a:off x="5394960" y="4946904"/>
            <a:ext cx="5973775" cy="603504"/>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facilitator reviews and merges</a:t>
            </a:r>
            <a:endParaRPr lang="en-US" sz="1400" dirty="0"/>
          </a:p>
        </p:txBody>
      </p:sp>
      <p:sp>
        <p:nvSpPr>
          <p:cNvPr id="29" name="Shape 27"/>
          <p:cNvSpPr/>
          <p:nvPr/>
        </p:nvSpPr>
        <p:spPr>
          <a:xfrm>
            <a:off x="640080" y="5669280"/>
            <a:ext cx="10911535" cy="603504"/>
          </a:xfrm>
          <a:prstGeom prst="roundRect">
            <a:avLst>
              <a:gd name="adj" fmla="val 13636"/>
            </a:avLst>
          </a:prstGeom>
          <a:solidFill>
            <a:srgbClr val="161B22"/>
          </a:solidFill>
          <a:ln w="12700">
            <a:solidFill>
              <a:srgbClr val="30363D"/>
            </a:solidFill>
            <a:prstDash val="solid"/>
          </a:ln>
        </p:spPr>
      </p:sp>
      <p:sp>
        <p:nvSpPr>
          <p:cNvPr id="30" name="Shape 28"/>
          <p:cNvSpPr/>
          <p:nvPr/>
        </p:nvSpPr>
        <p:spPr>
          <a:xfrm>
            <a:off x="786384" y="5769864"/>
            <a:ext cx="402336" cy="402336"/>
          </a:xfrm>
          <a:prstGeom prst="ellipse">
            <a:avLst/>
          </a:prstGeom>
          <a:solidFill>
            <a:srgbClr val="A371F7"/>
          </a:solidFill>
          <a:ln/>
        </p:spPr>
      </p:sp>
      <p:sp>
        <p:nvSpPr>
          <p:cNvPr id="31" name="Text 29"/>
          <p:cNvSpPr/>
          <p:nvPr/>
        </p:nvSpPr>
        <p:spPr>
          <a:xfrm>
            <a:off x="786384" y="5769864"/>
            <a:ext cx="402336" cy="402336"/>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1508760" y="5669280"/>
            <a:ext cx="384048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Auto rebuild + deploy</a:t>
            </a:r>
            <a:endParaRPr lang="en-US" sz="1600" dirty="0"/>
          </a:p>
        </p:txBody>
      </p:sp>
      <p:sp>
        <p:nvSpPr>
          <p:cNvPr id="33" name="Text 31"/>
          <p:cNvSpPr/>
          <p:nvPr/>
        </p:nvSpPr>
        <p:spPr>
          <a:xfrm>
            <a:off x="5394960" y="5669280"/>
            <a:ext cx="5973775" cy="603504"/>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the wall redeploys to GitHub Pages</a:t>
            </a:r>
            <a:endParaRPr lang="en-US" sz="1400" dirty="0"/>
          </a:p>
        </p:txBody>
      </p:sp>
      <p:sp>
        <p:nvSpPr>
          <p:cNvPr id="34" name="Text 32"/>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35" name="Text 33"/>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WHAT YOU OWN</a:t>
            </a:r>
            <a:endParaRPr lang="en-US" sz="1300" dirty="0"/>
          </a:p>
        </p:txBody>
      </p:sp>
      <p:sp>
        <p:nvSpPr>
          <p:cNvPr id="3" name="Text 1"/>
          <p:cNvSpPr/>
          <p:nvPr/>
        </p:nvSpPr>
        <p:spPr>
          <a:xfrm>
            <a:off x="640080" y="749808"/>
            <a:ext cx="10911535" cy="8229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Your interactive widget</a:t>
            </a:r>
            <a:endParaRPr lang="en-US" sz="3400" dirty="0"/>
          </a:p>
        </p:txBody>
      </p:sp>
      <p:sp>
        <p:nvSpPr>
          <p:cNvPr id="4" name="Shape 2"/>
          <p:cNvSpPr/>
          <p:nvPr/>
        </p:nvSpPr>
        <p:spPr>
          <a:xfrm>
            <a:off x="640080" y="2103120"/>
            <a:ext cx="6766560" cy="2743200"/>
          </a:xfrm>
          <a:prstGeom prst="roundRect">
            <a:avLst>
              <a:gd name="adj" fmla="val 3000"/>
            </a:avLst>
          </a:prstGeom>
          <a:solidFill>
            <a:srgbClr val="161B22"/>
          </a:solidFill>
          <a:ln w="12700">
            <a:solidFill>
              <a:srgbClr val="30363D"/>
            </a:solidFill>
            <a:prstDash val="solid"/>
          </a:ln>
        </p:spPr>
      </p:sp>
      <p:sp>
        <p:nvSpPr>
          <p:cNvPr id="5" name="Shape 3"/>
          <p:cNvSpPr/>
          <p:nvPr/>
        </p:nvSpPr>
        <p:spPr>
          <a:xfrm>
            <a:off x="804672" y="2267712"/>
            <a:ext cx="91440" cy="91440"/>
          </a:xfrm>
          <a:prstGeom prst="ellipse">
            <a:avLst/>
          </a:prstGeom>
          <a:solidFill>
            <a:srgbClr val="FF5F56"/>
          </a:solidFill>
          <a:ln/>
        </p:spPr>
      </p:sp>
      <p:sp>
        <p:nvSpPr>
          <p:cNvPr id="6" name="Shape 4"/>
          <p:cNvSpPr/>
          <p:nvPr/>
        </p:nvSpPr>
        <p:spPr>
          <a:xfrm>
            <a:off x="950976" y="2267712"/>
            <a:ext cx="91440" cy="91440"/>
          </a:xfrm>
          <a:prstGeom prst="ellipse">
            <a:avLst/>
          </a:prstGeom>
          <a:solidFill>
            <a:srgbClr val="FFBD2E"/>
          </a:solidFill>
          <a:ln/>
        </p:spPr>
      </p:sp>
      <p:sp>
        <p:nvSpPr>
          <p:cNvPr id="7" name="Shape 5"/>
          <p:cNvSpPr/>
          <p:nvPr/>
        </p:nvSpPr>
        <p:spPr>
          <a:xfrm>
            <a:off x="1097280" y="2267712"/>
            <a:ext cx="91440" cy="91440"/>
          </a:xfrm>
          <a:prstGeom prst="ellipse">
            <a:avLst/>
          </a:prstGeom>
          <a:solidFill>
            <a:srgbClr val="27C93F"/>
          </a:solidFill>
          <a:ln/>
        </p:spPr>
      </p:sp>
      <p:sp>
        <p:nvSpPr>
          <p:cNvPr id="8" name="Text 6"/>
          <p:cNvSpPr/>
          <p:nvPr/>
        </p:nvSpPr>
        <p:spPr>
          <a:xfrm>
            <a:off x="5394960" y="221284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widgets/pagduldx.js</a:t>
            </a:r>
            <a:endParaRPr lang="en-US" sz="900" dirty="0"/>
          </a:p>
        </p:txBody>
      </p:sp>
      <p:sp>
        <p:nvSpPr>
          <p:cNvPr id="9" name="Text 7"/>
          <p:cNvSpPr/>
          <p:nvPr/>
        </p:nvSpPr>
        <p:spPr>
          <a:xfrm>
            <a:off x="896112" y="2560320"/>
            <a:ext cx="6263640" cy="2103120"/>
          </a:xfrm>
          <a:prstGeom prst="rect">
            <a:avLst/>
          </a:prstGeom>
          <a:noFill/>
          <a:ln/>
        </p:spPr>
        <p:txBody>
          <a:bodyPr wrap="square" lIns="0" tIns="0" rIns="0" bIns="0" rtlCol="0" anchor="t"/>
          <a:lstStyle/>
          <a:p>
            <a:pPr algn="l" indent="0" marL="0">
              <a:buNone/>
            </a:pPr>
            <a:r>
              <a:rPr lang="en-US" sz="1300" dirty="0">
                <a:solidFill>
                  <a:srgbClr val="E6EDF3"/>
                </a:solidFill>
                <a:latin typeface="Courier New" pitchFamily="34" charset="0"/>
                <a:ea typeface="Courier New" pitchFamily="34" charset="-122"/>
                <a:cs typeface="Courier New" pitchFamily="34" charset="-120"/>
              </a:rPr>
              <a:t>WORKSHOP.register({</a:t>
            </a: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  id: "pagduldx",</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title: "Click Counter",</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author: "pagduldx",</a:t>
            </a:r>
            <a:endParaRPr lang="en-US" sz="1300" dirty="0"/>
          </a:p>
          <a:p>
            <a:pPr algn="l" indent="0" marL="0">
              <a:buNone/>
            </a:pPr>
            <a:r>
              <a:rPr lang="en-US" sz="1300" b="1" dirty="0">
                <a:solidFill>
                  <a:srgbClr val="A371F7"/>
                </a:solidFill>
                <a:latin typeface="Courier New" pitchFamily="34" charset="0"/>
                <a:ea typeface="Courier New" pitchFamily="34" charset="-122"/>
                <a:cs typeface="Courier New" pitchFamily="34" charset="-120"/>
              </a:rPr>
              <a:t>  mount: function (root) {</a:t>
            </a:r>
            <a:endParaRPr lang="en-US" sz="1300" dirty="0"/>
          </a:p>
          <a:p>
            <a:pPr algn="l" indent="0" marL="0">
              <a:buNone/>
            </a:pPr>
            <a:r>
              <a:rPr lang="en-US" sz="1300" dirty="0">
                <a:solidFill>
                  <a:srgbClr val="8B949E"/>
                </a:solidFill>
                <a:latin typeface="Courier New" pitchFamily="34" charset="0"/>
                <a:ea typeface="Courier New" pitchFamily="34" charset="-122"/>
                <a:cs typeface="Courier New" pitchFamily="34" charset="-120"/>
              </a:rPr>
              <a:t>    // build DOM in root,</a:t>
            </a:r>
            <a:endParaRPr lang="en-US" sz="1300" dirty="0"/>
          </a:p>
          <a:p>
            <a:pPr algn="l" indent="0" marL="0">
              <a:buNone/>
            </a:pPr>
            <a:r>
              <a:rPr lang="en-US" sz="1300" dirty="0">
                <a:solidFill>
                  <a:srgbClr val="8B949E"/>
                </a:solidFill>
                <a:latin typeface="Courier New" pitchFamily="34" charset="0"/>
                <a:ea typeface="Courier New" pitchFamily="34" charset="-122"/>
                <a:cs typeface="Courier New" pitchFamily="34" charset="-120"/>
              </a:rPr>
              <a:t>    // wire up the behavior</a:t>
            </a:r>
            <a:endParaRPr lang="en-US" sz="1300" dirty="0"/>
          </a:p>
          <a:p>
            <a:pPr algn="l" indent="0" marL="0">
              <a:buNone/>
            </a:pPr>
            <a:r>
              <a:rPr lang="en-US" sz="1300" b="1" dirty="0">
                <a:solidFill>
                  <a:srgbClr val="A371F7"/>
                </a:solidFill>
                <a:latin typeface="Courier New" pitchFamily="34" charset="0"/>
                <a:ea typeface="Courier New" pitchFamily="34" charset="-122"/>
                <a:cs typeface="Courier New" pitchFamily="34" charset="-120"/>
              </a:rPr>
              <a:t>  },</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7772400" y="2103120"/>
            <a:ext cx="3779215" cy="2743200"/>
          </a:xfrm>
          <a:prstGeom prst="roundRect">
            <a:avLst>
              <a:gd name="adj" fmla="val 3000"/>
            </a:avLst>
          </a:prstGeom>
          <a:solidFill>
            <a:srgbClr val="1C2532"/>
          </a:solidFill>
          <a:ln w="12700">
            <a:solidFill>
              <a:srgbClr val="30363D"/>
            </a:solidFill>
            <a:prstDash val="solid"/>
          </a:ln>
        </p:spPr>
      </p:sp>
      <p:sp>
        <p:nvSpPr>
          <p:cNvPr id="11" name="Text 9"/>
          <p:cNvSpPr/>
          <p:nvPr/>
        </p:nvSpPr>
        <p:spPr>
          <a:xfrm>
            <a:off x="8138160" y="2331720"/>
            <a:ext cx="365760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shared wall</a:t>
            </a:r>
            <a:endParaRPr lang="en-US" sz="1700" dirty="0"/>
          </a:p>
        </p:txBody>
      </p:sp>
      <p:sp>
        <p:nvSpPr>
          <p:cNvPr id="12" name="Text 10"/>
          <p:cNvSpPr/>
          <p:nvPr/>
        </p:nvSpPr>
        <p:spPr>
          <a:xfrm>
            <a:off x="8138160" y="2834640"/>
            <a:ext cx="3047695" cy="1737360"/>
          </a:xfrm>
          <a:prstGeom prst="rect">
            <a:avLst/>
          </a:prstGeom>
          <a:noFill/>
          <a:ln/>
        </p:spPr>
        <p:txBody>
          <a:bodyPr wrap="square" rtlCol="0" anchor="t"/>
          <a:lstStyle/>
          <a:p>
            <a:pPr indent="0" marL="0">
              <a:buNone/>
            </a:pPr>
            <a:r>
              <a:rPr lang="en-US" sz="1400" dirty="0">
                <a:solidFill>
                  <a:srgbClr val="E6EDF3"/>
                </a:solidFill>
                <a:latin typeface="Calibri" pitchFamily="34" charset="0"/>
                <a:ea typeface="Calibri" pitchFamily="34" charset="-122"/>
                <a:cs typeface="Calibri" pitchFamily="34" charset="-120"/>
              </a:rPr>
              <a:t>The page auto-discovers your</a:t>
            </a:r>
            <a:endParaRPr lang="en-US" sz="1400" dirty="0"/>
          </a:p>
          <a:p>
            <a:pPr indent="0" marL="0">
              <a:buNone/>
            </a:pPr>
            <a:r>
              <a:rPr lang="en-US" sz="1400" dirty="0">
                <a:solidFill>
                  <a:srgbClr val="E6EDF3"/>
                </a:solidFill>
                <a:latin typeface="Calibri" pitchFamily="34" charset="0"/>
                <a:ea typeface="Calibri" pitchFamily="34" charset="-122"/>
                <a:cs typeface="Calibri" pitchFamily="34" charset="-120"/>
              </a:rPr>
              <a:t>file and mounts it as its own</a:t>
            </a:r>
            <a:endParaRPr lang="en-US" sz="1400" dirty="0"/>
          </a:p>
          <a:p>
            <a:pPr indent="0" marL="0">
              <a:buNone/>
            </a:pPr>
            <a:r>
              <a:rPr lang="en-US" sz="1400" dirty="0">
                <a:solidFill>
                  <a:srgbClr val="E6EDF3"/>
                </a:solidFill>
                <a:latin typeface="Calibri" pitchFamily="34" charset="0"/>
                <a:ea typeface="Calibri" pitchFamily="34" charset="-122"/>
                <a:cs typeface="Calibri" pitchFamily="34" charset="-120"/>
              </a:rPr>
              <a:t>card. It starts empty and</a:t>
            </a:r>
            <a:endParaRPr lang="en-US" sz="1400" dirty="0"/>
          </a:p>
          <a:p>
            <a:pPr indent="0" marL="0">
              <a:buNone/>
            </a:pPr>
            <a:r>
              <a:rPr lang="en-US" sz="1400" dirty="0">
                <a:solidFill>
                  <a:srgbClr val="E6EDF3"/>
                </a:solidFill>
                <a:latin typeface="Calibri" pitchFamily="34" charset="0"/>
                <a:ea typeface="Calibri" pitchFamily="34" charset="-122"/>
                <a:cs typeface="Calibri" pitchFamily="34" charset="-120"/>
              </a:rPr>
              <a:t>fills as PRs merge.</a:t>
            </a:r>
            <a:endParaRPr lang="en-US" sz="1400" dirty="0"/>
          </a:p>
        </p:txBody>
      </p:sp>
      <p:sp>
        <p:nvSpPr>
          <p:cNvPr id="13" name="Text 11"/>
          <p:cNvSpPr/>
          <p:nvPr/>
        </p:nvSpPr>
        <p:spPr>
          <a:xfrm>
            <a:off x="640080" y="5074920"/>
            <a:ext cx="10911535" cy="365760"/>
          </a:xfrm>
          <a:prstGeom prst="rect">
            <a:avLst/>
          </a:prstGeom>
          <a:noFill/>
          <a:ln/>
        </p:spPr>
        <p:txBody>
          <a:bodyPr wrap="square" rtlCol="0" anchor="ctr"/>
          <a:lstStyle/>
          <a:p>
            <a:pPr algn="ctr" indent="0" marL="0">
              <a:buNone/>
            </a:pPr>
            <a:r>
              <a:rPr lang="en-US" sz="1500" i="1" dirty="0">
                <a:solidFill>
                  <a:srgbClr val="A371F7"/>
                </a:solidFill>
                <a:latin typeface="Calibri" pitchFamily="34" charset="0"/>
                <a:ea typeface="Calibri" pitchFamily="34" charset="-122"/>
                <a:cs typeface="Calibri" pitchFamily="34" charset="-120"/>
              </a:rPr>
              <a:t>Your id must equal your file name — both are your legal ID.</a:t>
            </a:r>
            <a:endParaRPr lang="en-US" sz="1500" dirty="0"/>
          </a:p>
        </p:txBody>
      </p:sp>
      <p:sp>
        <p:nvSpPr>
          <p:cNvPr id="14" name="Text 12"/>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5" name="Text 13"/>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BEFORE YOU START</a:t>
            </a:r>
            <a:endParaRPr lang="en-US" sz="1300" dirty="0"/>
          </a:p>
        </p:txBody>
      </p:sp>
      <p:sp>
        <p:nvSpPr>
          <p:cNvPr id="3" name="Text 1"/>
          <p:cNvSpPr/>
          <p:nvPr/>
        </p:nvSpPr>
        <p:spPr>
          <a:xfrm>
            <a:off x="640080" y="749808"/>
            <a:ext cx="10911535" cy="8229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Three things to have ready</a:t>
            </a:r>
            <a:endParaRPr lang="en-US" sz="3400" dirty="0"/>
          </a:p>
        </p:txBody>
      </p:sp>
      <p:sp>
        <p:nvSpPr>
          <p:cNvPr id="4" name="Shape 2"/>
          <p:cNvSpPr/>
          <p:nvPr/>
        </p:nvSpPr>
        <p:spPr>
          <a:xfrm>
            <a:off x="640080" y="2057400"/>
            <a:ext cx="10911535" cy="914400"/>
          </a:xfrm>
          <a:prstGeom prst="roundRect">
            <a:avLst>
              <a:gd name="adj" fmla="val 9000"/>
            </a:avLst>
          </a:prstGeom>
          <a:solidFill>
            <a:srgbClr val="161B22"/>
          </a:solidFill>
          <a:ln w="12700">
            <a:solidFill>
              <a:srgbClr val="30363D"/>
            </a:solidFill>
            <a:prstDash val="solid"/>
          </a:ln>
        </p:spPr>
      </p:sp>
      <p:sp>
        <p:nvSpPr>
          <p:cNvPr id="5" name="Shape 3"/>
          <p:cNvSpPr/>
          <p:nvPr/>
        </p:nvSpPr>
        <p:spPr>
          <a:xfrm>
            <a:off x="914400" y="2240280"/>
            <a:ext cx="548640" cy="548640"/>
          </a:xfrm>
          <a:prstGeom prst="ellipse">
            <a:avLst/>
          </a:prstGeom>
          <a:solidFill>
            <a:srgbClr val="3FB950"/>
          </a:solidFill>
          <a:ln/>
        </p:spPr>
      </p:sp>
      <p:sp>
        <p:nvSpPr>
          <p:cNvPr id="6" name="Text 4"/>
          <p:cNvSpPr/>
          <p:nvPr/>
        </p:nvSpPr>
        <p:spPr>
          <a:xfrm>
            <a:off x="914400" y="2240280"/>
            <a:ext cx="548640" cy="548640"/>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A</a:t>
            </a:r>
            <a:endParaRPr lang="en-US" sz="1400" dirty="0"/>
          </a:p>
        </p:txBody>
      </p:sp>
      <p:sp>
        <p:nvSpPr>
          <p:cNvPr id="7" name="Text 5"/>
          <p:cNvSpPr/>
          <p:nvPr/>
        </p:nvSpPr>
        <p:spPr>
          <a:xfrm>
            <a:off x="1691640" y="2185416"/>
            <a:ext cx="43891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Your own ChatGPT with Codex</a:t>
            </a:r>
            <a:endParaRPr lang="en-US" sz="1800" dirty="0"/>
          </a:p>
        </p:txBody>
      </p:sp>
      <p:sp>
        <p:nvSpPr>
          <p:cNvPr id="8" name="Text 6"/>
          <p:cNvSpPr/>
          <p:nvPr/>
        </p:nvSpPr>
        <p:spPr>
          <a:xfrm>
            <a:off x="6126480" y="2057400"/>
            <a:ext cx="5150815" cy="91440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Confirm you can see Codex in the left nav — the agent that opens PRs.</a:t>
            </a:r>
            <a:endParaRPr lang="en-US" sz="1400" dirty="0"/>
          </a:p>
        </p:txBody>
      </p:sp>
      <p:sp>
        <p:nvSpPr>
          <p:cNvPr id="9" name="Shape 7"/>
          <p:cNvSpPr/>
          <p:nvPr/>
        </p:nvSpPr>
        <p:spPr>
          <a:xfrm>
            <a:off x="640080" y="3172968"/>
            <a:ext cx="10911535" cy="914400"/>
          </a:xfrm>
          <a:prstGeom prst="roundRect">
            <a:avLst>
              <a:gd name="adj" fmla="val 9000"/>
            </a:avLst>
          </a:prstGeom>
          <a:solidFill>
            <a:srgbClr val="161B22"/>
          </a:solidFill>
          <a:ln w="12700">
            <a:solidFill>
              <a:srgbClr val="30363D"/>
            </a:solidFill>
            <a:prstDash val="solid"/>
          </a:ln>
        </p:spPr>
      </p:sp>
      <p:sp>
        <p:nvSpPr>
          <p:cNvPr id="10" name="Shape 8"/>
          <p:cNvSpPr/>
          <p:nvPr/>
        </p:nvSpPr>
        <p:spPr>
          <a:xfrm>
            <a:off x="914400" y="3355848"/>
            <a:ext cx="548640" cy="548640"/>
          </a:xfrm>
          <a:prstGeom prst="ellipse">
            <a:avLst/>
          </a:prstGeom>
          <a:solidFill>
            <a:srgbClr val="A371F7"/>
          </a:solidFill>
          <a:ln/>
        </p:spPr>
      </p:sp>
      <p:sp>
        <p:nvSpPr>
          <p:cNvPr id="11" name="Text 9"/>
          <p:cNvSpPr/>
          <p:nvPr/>
        </p:nvSpPr>
        <p:spPr>
          <a:xfrm>
            <a:off x="914400" y="3355848"/>
            <a:ext cx="548640" cy="548640"/>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1691640" y="3300984"/>
            <a:ext cx="43891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shared GitHub credentials</a:t>
            </a:r>
            <a:endParaRPr lang="en-US" sz="1800" dirty="0"/>
          </a:p>
        </p:txBody>
      </p:sp>
      <p:sp>
        <p:nvSpPr>
          <p:cNvPr id="13" name="Text 11"/>
          <p:cNvSpPr/>
          <p:nvPr/>
        </p:nvSpPr>
        <p:spPr>
          <a:xfrm>
            <a:off x="6126480" y="3172968"/>
            <a:ext cx="5150815" cy="91440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Everyone connects Codex to the same repo with the credentials provided.</a:t>
            </a:r>
            <a:endParaRPr lang="en-US" sz="1400" dirty="0"/>
          </a:p>
        </p:txBody>
      </p:sp>
      <p:sp>
        <p:nvSpPr>
          <p:cNvPr id="14" name="Shape 12"/>
          <p:cNvSpPr/>
          <p:nvPr/>
        </p:nvSpPr>
        <p:spPr>
          <a:xfrm>
            <a:off x="640080" y="4288536"/>
            <a:ext cx="10911535" cy="914400"/>
          </a:xfrm>
          <a:prstGeom prst="roundRect">
            <a:avLst>
              <a:gd name="adj" fmla="val 9000"/>
            </a:avLst>
          </a:prstGeom>
          <a:solidFill>
            <a:srgbClr val="161B22"/>
          </a:solidFill>
          <a:ln w="12700">
            <a:solidFill>
              <a:srgbClr val="30363D"/>
            </a:solidFill>
            <a:prstDash val="solid"/>
          </a:ln>
        </p:spPr>
      </p:sp>
      <p:sp>
        <p:nvSpPr>
          <p:cNvPr id="15" name="Shape 13"/>
          <p:cNvSpPr/>
          <p:nvPr/>
        </p:nvSpPr>
        <p:spPr>
          <a:xfrm>
            <a:off x="914400" y="4471416"/>
            <a:ext cx="548640" cy="548640"/>
          </a:xfrm>
          <a:prstGeom prst="ellipse">
            <a:avLst/>
          </a:prstGeom>
          <a:solidFill>
            <a:srgbClr val="2F81F7"/>
          </a:solidFill>
          <a:ln/>
        </p:spPr>
      </p:sp>
      <p:sp>
        <p:nvSpPr>
          <p:cNvPr id="16" name="Text 14"/>
          <p:cNvSpPr/>
          <p:nvPr/>
        </p:nvSpPr>
        <p:spPr>
          <a:xfrm>
            <a:off x="914400" y="4471416"/>
            <a:ext cx="548640" cy="548640"/>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691640" y="4416552"/>
            <a:ext cx="43891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Your legal ID</a:t>
            </a:r>
            <a:endParaRPr lang="en-US" sz="1800" dirty="0"/>
          </a:p>
        </p:txBody>
      </p:sp>
      <p:sp>
        <p:nvSpPr>
          <p:cNvPr id="18" name="Text 16"/>
          <p:cNvSpPr/>
          <p:nvPr/>
        </p:nvSpPr>
        <p:spPr>
          <a:xfrm>
            <a:off x="6126480" y="4288536"/>
            <a:ext cx="5150815" cy="91440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e.g. pagduldx — used for your branch and your widget file name.</a:t>
            </a:r>
            <a:endParaRPr lang="en-US" sz="1400" dirty="0"/>
          </a:p>
        </p:txBody>
      </p:sp>
      <p:sp>
        <p:nvSpPr>
          <p:cNvPr id="19" name="Text 17"/>
          <p:cNvSpPr/>
          <p:nvPr/>
        </p:nvSpPr>
        <p:spPr>
          <a:xfrm>
            <a:off x="640080" y="5532120"/>
            <a:ext cx="10911535" cy="320040"/>
          </a:xfrm>
          <a:prstGeom prst="rect">
            <a:avLst/>
          </a:prstGeom>
          <a:noFill/>
          <a:ln/>
        </p:spPr>
        <p:txBody>
          <a:bodyPr wrap="square" rtlCol="0" anchor="ctr"/>
          <a:lstStyle/>
          <a:p>
            <a:pPr algn="ctr" indent="0" marL="0">
              <a:buNone/>
            </a:pPr>
            <a:r>
              <a:rPr lang="en-US" sz="1400" i="1" dirty="0">
                <a:solidFill>
                  <a:srgbClr val="3FB950"/>
                </a:solidFill>
                <a:latin typeface="Calibri" pitchFamily="34" charset="0"/>
                <a:ea typeface="Calibri" pitchFamily="34" charset="-122"/>
                <a:cs typeface="Calibri" pitchFamily="34" charset="-120"/>
              </a:rPr>
              <a:t>You install nothing — just git and Codex. GitHub runs the tests for you on every pull request.</a:t>
            </a:r>
            <a:endParaRPr lang="en-US" sz="1400" dirty="0"/>
          </a:p>
        </p:txBody>
      </p:sp>
      <p:sp>
        <p:nvSpPr>
          <p:cNvPr id="20" name="Text 18"/>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21" name="Text 19"/>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STEP 1 — CONNECT</a:t>
            </a:r>
            <a:endParaRPr lang="en-US" sz="1300" dirty="0"/>
          </a:p>
        </p:txBody>
      </p:sp>
      <p:sp>
        <p:nvSpPr>
          <p:cNvPr id="3" name="Shape 1"/>
          <p:cNvSpPr/>
          <p:nvPr/>
        </p:nvSpPr>
        <p:spPr>
          <a:xfrm>
            <a:off x="640080" y="713232"/>
            <a:ext cx="640080" cy="640080"/>
          </a:xfrm>
          <a:prstGeom prst="ellipse">
            <a:avLst/>
          </a:prstGeom>
          <a:solidFill>
            <a:srgbClr val="3FB950"/>
          </a:solidFill>
          <a:ln/>
        </p:spPr>
      </p:sp>
      <p:sp>
        <p:nvSpPr>
          <p:cNvPr id="4" name="Text 2"/>
          <p:cNvSpPr/>
          <p:nvPr/>
        </p:nvSpPr>
        <p:spPr>
          <a:xfrm>
            <a:off x="640080" y="713232"/>
            <a:ext cx="640080" cy="64008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508760" y="731520"/>
            <a:ext cx="10042855"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Connect GitHub, open Codex</a:t>
            </a:r>
            <a:endParaRPr lang="en-US" sz="3000" dirty="0"/>
          </a:p>
        </p:txBody>
      </p:sp>
      <p:sp>
        <p:nvSpPr>
          <p:cNvPr id="6" name="Shape 4"/>
          <p:cNvSpPr/>
          <p:nvPr/>
        </p:nvSpPr>
        <p:spPr>
          <a:xfrm>
            <a:off x="640080" y="1965960"/>
            <a:ext cx="10911535" cy="3246120"/>
          </a:xfrm>
          <a:prstGeom prst="roundRect">
            <a:avLst>
              <a:gd name="adj" fmla="val 2535"/>
            </a:avLst>
          </a:prstGeom>
          <a:solidFill>
            <a:srgbClr val="161B22"/>
          </a:solidFill>
          <a:ln w="12700">
            <a:solidFill>
              <a:srgbClr val="30363D"/>
            </a:solidFill>
            <a:prstDash val="solid"/>
          </a:ln>
        </p:spPr>
      </p:sp>
      <p:sp>
        <p:nvSpPr>
          <p:cNvPr id="7" name="Shape 5"/>
          <p:cNvSpPr/>
          <p:nvPr/>
        </p:nvSpPr>
        <p:spPr>
          <a:xfrm>
            <a:off x="804672" y="2130552"/>
            <a:ext cx="91440" cy="91440"/>
          </a:xfrm>
          <a:prstGeom prst="ellipse">
            <a:avLst/>
          </a:prstGeom>
          <a:solidFill>
            <a:srgbClr val="FF5F56"/>
          </a:solidFill>
          <a:ln/>
        </p:spPr>
      </p:sp>
      <p:sp>
        <p:nvSpPr>
          <p:cNvPr id="8" name="Shape 6"/>
          <p:cNvSpPr/>
          <p:nvPr/>
        </p:nvSpPr>
        <p:spPr>
          <a:xfrm>
            <a:off x="950976" y="2130552"/>
            <a:ext cx="91440" cy="91440"/>
          </a:xfrm>
          <a:prstGeom prst="ellipse">
            <a:avLst/>
          </a:prstGeom>
          <a:solidFill>
            <a:srgbClr val="FFBD2E"/>
          </a:solidFill>
          <a:ln/>
        </p:spPr>
      </p:sp>
      <p:sp>
        <p:nvSpPr>
          <p:cNvPr id="9" name="Shape 7"/>
          <p:cNvSpPr/>
          <p:nvPr/>
        </p:nvSpPr>
        <p:spPr>
          <a:xfrm>
            <a:off x="1097280" y="2130552"/>
            <a:ext cx="91440" cy="91440"/>
          </a:xfrm>
          <a:prstGeom prst="ellipse">
            <a:avLst/>
          </a:prstGeom>
          <a:solidFill>
            <a:srgbClr val="27C93F"/>
          </a:solidFill>
          <a:ln/>
        </p:spPr>
      </p:sp>
      <p:sp>
        <p:nvSpPr>
          <p:cNvPr id="10" name="Text 8"/>
          <p:cNvSpPr/>
          <p:nvPr/>
        </p:nvSpPr>
        <p:spPr>
          <a:xfrm>
            <a:off x="9539935" y="207568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verification prompt</a:t>
            </a:r>
            <a:endParaRPr lang="en-US" sz="900" dirty="0"/>
          </a:p>
        </p:txBody>
      </p:sp>
      <p:sp>
        <p:nvSpPr>
          <p:cNvPr id="11" name="Text 9"/>
          <p:cNvSpPr/>
          <p:nvPr/>
        </p:nvSpPr>
        <p:spPr>
          <a:xfrm>
            <a:off x="896112" y="2423160"/>
            <a:ext cx="10408615" cy="2606040"/>
          </a:xfrm>
          <a:prstGeom prst="rect">
            <a:avLst/>
          </a:prstGeom>
          <a:noFill/>
          <a:ln/>
        </p:spPr>
        <p:txBody>
          <a:bodyPr wrap="square" lIns="0" tIns="0" rIns="0" bIns="0" rtlCol="0" anchor="t"/>
          <a:lstStyle/>
          <a:p>
            <a:pPr algn="l" indent="0" marL="0">
              <a:buNone/>
            </a:pPr>
            <a:r>
              <a:rPr lang="en-US" sz="1300" dirty="0">
                <a:solidFill>
                  <a:srgbClr val="8B949E"/>
                </a:solidFill>
                <a:latin typeface="Courier New" pitchFamily="34" charset="0"/>
                <a:ea typeface="Courier New" pitchFamily="34" charset="-122"/>
                <a:cs typeface="Courier New" pitchFamily="34" charset="-120"/>
              </a:rPr>
              <a:t># ChatGPT: Settings -&gt; Apps -&gt; GitHub -&gt; authorize, open Codex</a:t>
            </a:r>
            <a:endParaRPr lang="en-US" sz="1300" dirty="0"/>
          </a:p>
          <a:p>
            <a:pPr algn="l" indent="0" marL="0">
              <a:buNone/>
            </a:pP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Confirm you can access the workshop repository.</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Read README.md and examples/example-widget.js and tell me:</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1. what the page does and how widgets appear on it</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2. the exact object a widget file must register</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3. which files I must not edit.</a:t>
            </a: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Do not modify anything.</a:t>
            </a:r>
            <a:endParaRPr lang="en-US" sz="1300" dirty="0"/>
          </a:p>
        </p:txBody>
      </p:sp>
      <p:sp>
        <p:nvSpPr>
          <p:cNvPr id="12" name="Text 10"/>
          <p:cNvSpPr/>
          <p:nvPr/>
        </p:nvSpPr>
        <p:spPr>
          <a:xfrm>
            <a:off x="640080" y="5394960"/>
            <a:ext cx="10911535" cy="457200"/>
          </a:xfrm>
          <a:prstGeom prst="rect">
            <a:avLst/>
          </a:prstGeom>
          <a:noFill/>
          <a:ln/>
        </p:spPr>
        <p:txBody>
          <a:bodyPr wrap="square"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Full prompts are in the Participant Guide.</a:t>
            </a:r>
            <a:endParaRPr lang="en-US" sz="1200" dirty="0"/>
          </a:p>
        </p:txBody>
      </p:sp>
      <p:sp>
        <p:nvSpPr>
          <p:cNvPr id="13" name="Text 11"/>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4" name="Text 12"/>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STEP 2 — BRANCH</a:t>
            </a:r>
            <a:endParaRPr lang="en-US" sz="1300" dirty="0"/>
          </a:p>
        </p:txBody>
      </p:sp>
      <p:sp>
        <p:nvSpPr>
          <p:cNvPr id="3" name="Shape 1"/>
          <p:cNvSpPr/>
          <p:nvPr/>
        </p:nvSpPr>
        <p:spPr>
          <a:xfrm>
            <a:off x="640080" y="713232"/>
            <a:ext cx="640080" cy="640080"/>
          </a:xfrm>
          <a:prstGeom prst="ellipse">
            <a:avLst/>
          </a:prstGeom>
          <a:solidFill>
            <a:srgbClr val="3FB950"/>
          </a:solidFill>
          <a:ln/>
        </p:spPr>
      </p:sp>
      <p:sp>
        <p:nvSpPr>
          <p:cNvPr id="4" name="Text 2"/>
          <p:cNvSpPr/>
          <p:nvPr/>
        </p:nvSpPr>
        <p:spPr>
          <a:xfrm>
            <a:off x="640080" y="713232"/>
            <a:ext cx="640080" cy="64008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2</a:t>
            </a:r>
            <a:endParaRPr lang="en-US" sz="2000" dirty="0"/>
          </a:p>
        </p:txBody>
      </p:sp>
      <p:sp>
        <p:nvSpPr>
          <p:cNvPr id="5" name="Text 3"/>
          <p:cNvSpPr/>
          <p:nvPr/>
        </p:nvSpPr>
        <p:spPr>
          <a:xfrm>
            <a:off x="1508760" y="731520"/>
            <a:ext cx="10042855"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Create your branch</a:t>
            </a:r>
            <a:endParaRPr lang="en-US" sz="3000" dirty="0"/>
          </a:p>
        </p:txBody>
      </p:sp>
      <p:sp>
        <p:nvSpPr>
          <p:cNvPr id="6" name="Shape 4"/>
          <p:cNvSpPr/>
          <p:nvPr/>
        </p:nvSpPr>
        <p:spPr>
          <a:xfrm>
            <a:off x="640080" y="1965960"/>
            <a:ext cx="10911535" cy="3246120"/>
          </a:xfrm>
          <a:prstGeom prst="roundRect">
            <a:avLst>
              <a:gd name="adj" fmla="val 2535"/>
            </a:avLst>
          </a:prstGeom>
          <a:solidFill>
            <a:srgbClr val="161B22"/>
          </a:solidFill>
          <a:ln w="12700">
            <a:solidFill>
              <a:srgbClr val="30363D"/>
            </a:solidFill>
            <a:prstDash val="solid"/>
          </a:ln>
        </p:spPr>
      </p:sp>
      <p:sp>
        <p:nvSpPr>
          <p:cNvPr id="7" name="Shape 5"/>
          <p:cNvSpPr/>
          <p:nvPr/>
        </p:nvSpPr>
        <p:spPr>
          <a:xfrm>
            <a:off x="804672" y="2130552"/>
            <a:ext cx="91440" cy="91440"/>
          </a:xfrm>
          <a:prstGeom prst="ellipse">
            <a:avLst/>
          </a:prstGeom>
          <a:solidFill>
            <a:srgbClr val="FF5F56"/>
          </a:solidFill>
          <a:ln/>
        </p:spPr>
      </p:sp>
      <p:sp>
        <p:nvSpPr>
          <p:cNvPr id="8" name="Shape 6"/>
          <p:cNvSpPr/>
          <p:nvPr/>
        </p:nvSpPr>
        <p:spPr>
          <a:xfrm>
            <a:off x="950976" y="2130552"/>
            <a:ext cx="91440" cy="91440"/>
          </a:xfrm>
          <a:prstGeom prst="ellipse">
            <a:avLst/>
          </a:prstGeom>
          <a:solidFill>
            <a:srgbClr val="FFBD2E"/>
          </a:solidFill>
          <a:ln/>
        </p:spPr>
      </p:sp>
      <p:sp>
        <p:nvSpPr>
          <p:cNvPr id="9" name="Shape 7"/>
          <p:cNvSpPr/>
          <p:nvPr/>
        </p:nvSpPr>
        <p:spPr>
          <a:xfrm>
            <a:off x="1097280" y="2130552"/>
            <a:ext cx="91440" cy="91440"/>
          </a:xfrm>
          <a:prstGeom prst="ellipse">
            <a:avLst/>
          </a:prstGeom>
          <a:solidFill>
            <a:srgbClr val="27C93F"/>
          </a:solidFill>
          <a:ln/>
        </p:spPr>
      </p:sp>
      <p:sp>
        <p:nvSpPr>
          <p:cNvPr id="10" name="Text 8"/>
          <p:cNvSpPr/>
          <p:nvPr/>
        </p:nvSpPr>
        <p:spPr>
          <a:xfrm>
            <a:off x="9539935" y="207568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what to create</a:t>
            </a:r>
            <a:endParaRPr lang="en-US" sz="900" dirty="0"/>
          </a:p>
        </p:txBody>
      </p:sp>
      <p:sp>
        <p:nvSpPr>
          <p:cNvPr id="11" name="Text 9"/>
          <p:cNvSpPr/>
          <p:nvPr/>
        </p:nvSpPr>
        <p:spPr>
          <a:xfrm>
            <a:off x="896112" y="2423160"/>
            <a:ext cx="10408615" cy="2606040"/>
          </a:xfrm>
          <a:prstGeom prst="rect">
            <a:avLst/>
          </a:prstGeom>
          <a:noFill/>
          <a:ln/>
        </p:spPr>
        <p:txBody>
          <a:bodyPr wrap="square" lIns="0" tIns="0" rIns="0" bIns="0" rtlCol="0" anchor="t"/>
          <a:lstStyle/>
          <a:p>
            <a:pPr algn="l" indent="0" marL="0">
              <a:buNone/>
            </a:pPr>
            <a:r>
              <a:rPr lang="en-US" sz="1300" dirty="0">
                <a:solidFill>
                  <a:srgbClr val="8B949E"/>
                </a:solidFill>
                <a:latin typeface="Courier New" pitchFamily="34" charset="0"/>
                <a:ea typeface="Courier New" pitchFamily="34" charset="-122"/>
                <a:cs typeface="Courier New" pitchFamily="34" charset="-120"/>
              </a:rPr>
              <a:t># GitHub web UI -&gt; branch dropdown -&gt; type name -&gt; create from main</a:t>
            </a:r>
            <a:endParaRPr lang="en-US" sz="1300" dirty="0"/>
          </a:p>
          <a:p>
            <a:pPr algn="l" indent="0" marL="0">
              <a:buNone/>
            </a:pP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workshop/&lt;your-legal-id&gt;</a:t>
            </a:r>
            <a:endParaRPr lang="en-US" sz="1300" dirty="0"/>
          </a:p>
          <a:p>
            <a:pPr algn="l" indent="0" marL="0">
              <a:buNone/>
            </a:pPr>
            <a:endParaRPr lang="en-US" sz="1300" dirty="0"/>
          </a:p>
          <a:p>
            <a:pPr algn="l" indent="0" marL="0">
              <a:buNone/>
            </a:pPr>
            <a:r>
              <a:rPr lang="en-US" sz="1300" dirty="0">
                <a:solidFill>
                  <a:srgbClr val="8B949E"/>
                </a:solidFill>
                <a:latin typeface="Courier New" pitchFamily="34" charset="0"/>
                <a:ea typeface="Courier New" pitchFamily="34" charset="-122"/>
                <a:cs typeface="Courier New" pitchFamily="34" charset="-120"/>
              </a:rPr>
              <a:t># Pushing this branch fires a GitHub Action that opens</a:t>
            </a:r>
            <a:endParaRPr lang="en-US" sz="1300" dirty="0"/>
          </a:p>
          <a:p>
            <a:pPr algn="l" indent="0" marL="0">
              <a:buNone/>
            </a:pPr>
            <a:r>
              <a:rPr lang="en-US" sz="1300" dirty="0">
                <a:solidFill>
                  <a:srgbClr val="8B949E"/>
                </a:solidFill>
                <a:latin typeface="Courier New" pitchFamily="34" charset="0"/>
                <a:ea typeface="Courier New" pitchFamily="34" charset="-122"/>
                <a:cs typeface="Courier New" pitchFamily="34" charset="-120"/>
              </a:rPr>
              <a:t># your widget task Issue. Wait about a minute.</a:t>
            </a:r>
            <a:endParaRPr lang="en-US" sz="1300" dirty="0"/>
          </a:p>
        </p:txBody>
      </p:sp>
      <p:sp>
        <p:nvSpPr>
          <p:cNvPr id="12" name="Text 10"/>
          <p:cNvSpPr/>
          <p:nvPr/>
        </p:nvSpPr>
        <p:spPr>
          <a:xfrm>
            <a:off x="640080" y="5394960"/>
            <a:ext cx="10911535" cy="457200"/>
          </a:xfrm>
          <a:prstGeom prst="rect">
            <a:avLst/>
          </a:prstGeom>
          <a:noFill/>
          <a:ln/>
        </p:spPr>
        <p:txBody>
          <a:bodyPr wrap="square"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Full prompts are in the Participant Guide.</a:t>
            </a:r>
            <a:endParaRPr lang="en-US" sz="1200" dirty="0"/>
          </a:p>
        </p:txBody>
      </p:sp>
      <p:sp>
        <p:nvSpPr>
          <p:cNvPr id="13" name="Text 11"/>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4" name="Text 12"/>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STEP 3 — YOUR TASK</a:t>
            </a:r>
            <a:endParaRPr lang="en-US" sz="1300" dirty="0"/>
          </a:p>
        </p:txBody>
      </p:sp>
      <p:sp>
        <p:nvSpPr>
          <p:cNvPr id="3" name="Shape 1"/>
          <p:cNvSpPr/>
          <p:nvPr/>
        </p:nvSpPr>
        <p:spPr>
          <a:xfrm>
            <a:off x="640080" y="713232"/>
            <a:ext cx="640080" cy="640080"/>
          </a:xfrm>
          <a:prstGeom prst="ellipse">
            <a:avLst/>
          </a:prstGeom>
          <a:solidFill>
            <a:srgbClr val="3FB950"/>
          </a:solidFill>
          <a:ln/>
        </p:spPr>
      </p:sp>
      <p:sp>
        <p:nvSpPr>
          <p:cNvPr id="4" name="Text 2"/>
          <p:cNvSpPr/>
          <p:nvPr/>
        </p:nvSpPr>
        <p:spPr>
          <a:xfrm>
            <a:off x="640080" y="713232"/>
            <a:ext cx="640080" cy="64008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3</a:t>
            </a:r>
            <a:endParaRPr lang="en-US" sz="2000" dirty="0"/>
          </a:p>
        </p:txBody>
      </p:sp>
      <p:sp>
        <p:nvSpPr>
          <p:cNvPr id="5" name="Text 3"/>
          <p:cNvSpPr/>
          <p:nvPr/>
        </p:nvSpPr>
        <p:spPr>
          <a:xfrm>
            <a:off x="1508760" y="731520"/>
            <a:ext cx="10042855"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Read your assigned Issue</a:t>
            </a:r>
            <a:endParaRPr lang="en-US" sz="3000" dirty="0"/>
          </a:p>
        </p:txBody>
      </p:sp>
      <p:sp>
        <p:nvSpPr>
          <p:cNvPr id="6" name="Shape 4"/>
          <p:cNvSpPr/>
          <p:nvPr/>
        </p:nvSpPr>
        <p:spPr>
          <a:xfrm>
            <a:off x="640080" y="1965960"/>
            <a:ext cx="10911535" cy="3246120"/>
          </a:xfrm>
          <a:prstGeom prst="roundRect">
            <a:avLst>
              <a:gd name="adj" fmla="val 2535"/>
            </a:avLst>
          </a:prstGeom>
          <a:solidFill>
            <a:srgbClr val="161B22"/>
          </a:solidFill>
          <a:ln w="12700">
            <a:solidFill>
              <a:srgbClr val="30363D"/>
            </a:solidFill>
            <a:prstDash val="solid"/>
          </a:ln>
        </p:spPr>
      </p:sp>
      <p:sp>
        <p:nvSpPr>
          <p:cNvPr id="7" name="Shape 5"/>
          <p:cNvSpPr/>
          <p:nvPr/>
        </p:nvSpPr>
        <p:spPr>
          <a:xfrm>
            <a:off x="804672" y="2130552"/>
            <a:ext cx="91440" cy="91440"/>
          </a:xfrm>
          <a:prstGeom prst="ellipse">
            <a:avLst/>
          </a:prstGeom>
          <a:solidFill>
            <a:srgbClr val="FF5F56"/>
          </a:solidFill>
          <a:ln/>
        </p:spPr>
      </p:sp>
      <p:sp>
        <p:nvSpPr>
          <p:cNvPr id="8" name="Shape 6"/>
          <p:cNvSpPr/>
          <p:nvPr/>
        </p:nvSpPr>
        <p:spPr>
          <a:xfrm>
            <a:off x="950976" y="2130552"/>
            <a:ext cx="91440" cy="91440"/>
          </a:xfrm>
          <a:prstGeom prst="ellipse">
            <a:avLst/>
          </a:prstGeom>
          <a:solidFill>
            <a:srgbClr val="FFBD2E"/>
          </a:solidFill>
          <a:ln/>
        </p:spPr>
      </p:sp>
      <p:sp>
        <p:nvSpPr>
          <p:cNvPr id="9" name="Shape 7"/>
          <p:cNvSpPr/>
          <p:nvPr/>
        </p:nvSpPr>
        <p:spPr>
          <a:xfrm>
            <a:off x="1097280" y="2130552"/>
            <a:ext cx="91440" cy="91440"/>
          </a:xfrm>
          <a:prstGeom prst="ellipse">
            <a:avLst/>
          </a:prstGeom>
          <a:solidFill>
            <a:srgbClr val="27C93F"/>
          </a:solidFill>
          <a:ln/>
        </p:spPr>
      </p:sp>
      <p:sp>
        <p:nvSpPr>
          <p:cNvPr id="10" name="Text 8"/>
          <p:cNvSpPr/>
          <p:nvPr/>
        </p:nvSpPr>
        <p:spPr>
          <a:xfrm>
            <a:off x="9539935" y="207568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prompt to Codex</a:t>
            </a:r>
            <a:endParaRPr lang="en-US" sz="900" dirty="0"/>
          </a:p>
        </p:txBody>
      </p:sp>
      <p:sp>
        <p:nvSpPr>
          <p:cNvPr id="11" name="Text 9"/>
          <p:cNvSpPr/>
          <p:nvPr/>
        </p:nvSpPr>
        <p:spPr>
          <a:xfrm>
            <a:off x="896112" y="2423160"/>
            <a:ext cx="10408615" cy="2606040"/>
          </a:xfrm>
          <a:prstGeom prst="rect">
            <a:avLst/>
          </a:prstGeom>
          <a:noFill/>
          <a:ln/>
        </p:spPr>
        <p:txBody>
          <a:bodyPr wrap="square" lIns="0" tIns="0" rIns="0" bIns="0" rtlCol="0" anchor="t"/>
          <a:lstStyle/>
          <a:p>
            <a:pPr algn="l" indent="0" marL="0">
              <a:buNone/>
            </a:pPr>
            <a:r>
              <a:rPr lang="en-US" sz="1300" dirty="0">
                <a:solidFill>
                  <a:srgbClr val="8B949E"/>
                </a:solidFill>
                <a:latin typeface="Courier New" pitchFamily="34" charset="0"/>
                <a:ea typeface="Courier New" pitchFamily="34" charset="-122"/>
                <a:cs typeface="Courier New" pitchFamily="34" charset="-120"/>
              </a:rPr>
              <a:t># Open Issues -&gt; find the one with your legal ID</a:t>
            </a:r>
            <a:endParaRPr lang="en-US" sz="1300" dirty="0"/>
          </a:p>
          <a:p>
            <a:pPr algn="l" indent="0" marL="0">
              <a:buNone/>
            </a:pP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Find the open assignment Issue whose title</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contains my legal ID. Summarize:</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 which widget I must build and what it should do</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 the id / title / mount contract</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 which files I must not edit.</a:t>
            </a: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Do not modify any files.</a:t>
            </a:r>
            <a:endParaRPr lang="en-US" sz="1300" dirty="0"/>
          </a:p>
        </p:txBody>
      </p:sp>
      <p:sp>
        <p:nvSpPr>
          <p:cNvPr id="12" name="Text 10"/>
          <p:cNvSpPr/>
          <p:nvPr/>
        </p:nvSpPr>
        <p:spPr>
          <a:xfrm>
            <a:off x="640080" y="5394960"/>
            <a:ext cx="10911535" cy="457200"/>
          </a:xfrm>
          <a:prstGeom prst="rect">
            <a:avLst/>
          </a:prstGeom>
          <a:noFill/>
          <a:ln/>
        </p:spPr>
        <p:txBody>
          <a:bodyPr wrap="square"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Full prompts are in the Participant Guide.</a:t>
            </a:r>
            <a:endParaRPr lang="en-US" sz="1200" dirty="0"/>
          </a:p>
        </p:txBody>
      </p:sp>
      <p:sp>
        <p:nvSpPr>
          <p:cNvPr id="13" name="Text 11"/>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4" name="Text 12"/>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STEP 4 — BUILD</a:t>
            </a:r>
            <a:endParaRPr lang="en-US" sz="1300" dirty="0"/>
          </a:p>
        </p:txBody>
      </p:sp>
      <p:sp>
        <p:nvSpPr>
          <p:cNvPr id="3" name="Shape 1"/>
          <p:cNvSpPr/>
          <p:nvPr/>
        </p:nvSpPr>
        <p:spPr>
          <a:xfrm>
            <a:off x="640080" y="713232"/>
            <a:ext cx="640080" cy="640080"/>
          </a:xfrm>
          <a:prstGeom prst="ellipse">
            <a:avLst/>
          </a:prstGeom>
          <a:solidFill>
            <a:srgbClr val="3FB950"/>
          </a:solidFill>
          <a:ln/>
        </p:spPr>
      </p:sp>
      <p:sp>
        <p:nvSpPr>
          <p:cNvPr id="4" name="Text 2"/>
          <p:cNvSpPr/>
          <p:nvPr/>
        </p:nvSpPr>
        <p:spPr>
          <a:xfrm>
            <a:off x="640080" y="713232"/>
            <a:ext cx="640080" cy="64008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4</a:t>
            </a:r>
            <a:endParaRPr lang="en-US" sz="2000" dirty="0"/>
          </a:p>
        </p:txBody>
      </p:sp>
      <p:sp>
        <p:nvSpPr>
          <p:cNvPr id="5" name="Text 3"/>
          <p:cNvSpPr/>
          <p:nvPr/>
        </p:nvSpPr>
        <p:spPr>
          <a:xfrm>
            <a:off x="1508760" y="731520"/>
            <a:ext cx="10042855"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Build your widget with Codex</a:t>
            </a:r>
            <a:endParaRPr lang="en-US" sz="3000" dirty="0"/>
          </a:p>
        </p:txBody>
      </p:sp>
      <p:sp>
        <p:nvSpPr>
          <p:cNvPr id="6" name="Shape 4"/>
          <p:cNvSpPr/>
          <p:nvPr/>
        </p:nvSpPr>
        <p:spPr>
          <a:xfrm>
            <a:off x="640080" y="1965960"/>
            <a:ext cx="10911535" cy="3246120"/>
          </a:xfrm>
          <a:prstGeom prst="roundRect">
            <a:avLst>
              <a:gd name="adj" fmla="val 2535"/>
            </a:avLst>
          </a:prstGeom>
          <a:solidFill>
            <a:srgbClr val="161B22"/>
          </a:solidFill>
          <a:ln w="12700">
            <a:solidFill>
              <a:srgbClr val="30363D"/>
            </a:solidFill>
            <a:prstDash val="solid"/>
          </a:ln>
        </p:spPr>
      </p:sp>
      <p:sp>
        <p:nvSpPr>
          <p:cNvPr id="7" name="Shape 5"/>
          <p:cNvSpPr/>
          <p:nvPr/>
        </p:nvSpPr>
        <p:spPr>
          <a:xfrm>
            <a:off x="804672" y="2130552"/>
            <a:ext cx="91440" cy="91440"/>
          </a:xfrm>
          <a:prstGeom prst="ellipse">
            <a:avLst/>
          </a:prstGeom>
          <a:solidFill>
            <a:srgbClr val="FF5F56"/>
          </a:solidFill>
          <a:ln/>
        </p:spPr>
      </p:sp>
      <p:sp>
        <p:nvSpPr>
          <p:cNvPr id="8" name="Shape 6"/>
          <p:cNvSpPr/>
          <p:nvPr/>
        </p:nvSpPr>
        <p:spPr>
          <a:xfrm>
            <a:off x="950976" y="2130552"/>
            <a:ext cx="91440" cy="91440"/>
          </a:xfrm>
          <a:prstGeom prst="ellipse">
            <a:avLst/>
          </a:prstGeom>
          <a:solidFill>
            <a:srgbClr val="FFBD2E"/>
          </a:solidFill>
          <a:ln/>
        </p:spPr>
      </p:sp>
      <p:sp>
        <p:nvSpPr>
          <p:cNvPr id="9" name="Shape 7"/>
          <p:cNvSpPr/>
          <p:nvPr/>
        </p:nvSpPr>
        <p:spPr>
          <a:xfrm>
            <a:off x="1097280" y="2130552"/>
            <a:ext cx="91440" cy="91440"/>
          </a:xfrm>
          <a:prstGeom prst="ellipse">
            <a:avLst/>
          </a:prstGeom>
          <a:solidFill>
            <a:srgbClr val="27C93F"/>
          </a:solidFill>
          <a:ln/>
        </p:spPr>
      </p:sp>
      <p:sp>
        <p:nvSpPr>
          <p:cNvPr id="10" name="Text 8"/>
          <p:cNvSpPr/>
          <p:nvPr/>
        </p:nvSpPr>
        <p:spPr>
          <a:xfrm>
            <a:off x="9539935" y="207568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prompt to Codex</a:t>
            </a:r>
            <a:endParaRPr lang="en-US" sz="900" dirty="0"/>
          </a:p>
        </p:txBody>
      </p:sp>
      <p:sp>
        <p:nvSpPr>
          <p:cNvPr id="11" name="Text 9"/>
          <p:cNvSpPr/>
          <p:nvPr/>
        </p:nvSpPr>
        <p:spPr>
          <a:xfrm>
            <a:off x="896112" y="2423160"/>
            <a:ext cx="10408615" cy="2606040"/>
          </a:xfrm>
          <a:prstGeom prst="rect">
            <a:avLst/>
          </a:prstGeom>
          <a:noFill/>
          <a:ln/>
        </p:spPr>
        <p:txBody>
          <a:bodyPr wrap="square" lIns="0" tIns="0" rIns="0" bIns="0" rtlCol="0" anchor="t"/>
          <a:lstStyle/>
          <a:p>
            <a:pPr algn="l" indent="0" marL="0">
              <a:buNone/>
            </a:pPr>
            <a:r>
              <a:rPr lang="en-US" sz="1300" dirty="0">
                <a:solidFill>
                  <a:srgbClr val="E6EDF3"/>
                </a:solidFill>
                <a:latin typeface="Courier New" pitchFamily="34" charset="0"/>
                <a:ea typeface="Courier New" pitchFamily="34" charset="-122"/>
                <a:cs typeface="Courier New" pitchFamily="34" charset="-120"/>
              </a:rPr>
              <a:t>Build my assigned widget on branch workshop/&lt;legal-id&gt;.</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 Create only widgets/&lt;legal-id&gt;.js, mirroring the example template</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 Register one widget whose id equals "&lt;legal-id&gt;"</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 Build all DOM inside root; wire it so it actually works</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 Self-contained: no external libraries, no network calls</a:t>
            </a:r>
            <a:endParaRPr lang="en-US" sz="1300" dirty="0"/>
          </a:p>
          <a:p>
            <a:pPr algn="l" indent="0" marL="0">
              <a:buNone/>
            </a:pPr>
            <a:r>
              <a:rPr lang="en-US" sz="1300" b="1" dirty="0">
                <a:solidFill>
                  <a:srgbClr val="A371F7"/>
                </a:solidFill>
                <a:latin typeface="Courier New" pitchFamily="34" charset="0"/>
                <a:ea typeface="Courier New" pitchFamily="34" charset="-122"/>
                <a:cs typeface="Courier New" pitchFamily="34" charset="-120"/>
              </a:rPr>
              <a:t>  - Do NOT edit index.html, loader.js, styles.css, registry.js</a:t>
            </a: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Summarize the file you created. Do not commit yet.</a:t>
            </a:r>
            <a:endParaRPr lang="en-US" sz="1300" dirty="0"/>
          </a:p>
        </p:txBody>
      </p:sp>
      <p:sp>
        <p:nvSpPr>
          <p:cNvPr id="12" name="Text 10"/>
          <p:cNvSpPr/>
          <p:nvPr/>
        </p:nvSpPr>
        <p:spPr>
          <a:xfrm>
            <a:off x="640080" y="5394960"/>
            <a:ext cx="10911535" cy="457200"/>
          </a:xfrm>
          <a:prstGeom prst="rect">
            <a:avLst/>
          </a:prstGeom>
          <a:noFill/>
          <a:ln/>
        </p:spPr>
        <p:txBody>
          <a:bodyPr wrap="square"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Full prompts are in the Participant Guide.</a:t>
            </a:r>
            <a:endParaRPr lang="en-US" sz="1200" dirty="0"/>
          </a:p>
        </p:txBody>
      </p:sp>
      <p:sp>
        <p:nvSpPr>
          <p:cNvPr id="13" name="Text 11"/>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4" name="Text 12"/>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STEP 5 — REVIEW</a:t>
            </a:r>
            <a:endParaRPr lang="en-US" sz="1300" dirty="0"/>
          </a:p>
        </p:txBody>
      </p:sp>
      <p:sp>
        <p:nvSpPr>
          <p:cNvPr id="3" name="Shape 1"/>
          <p:cNvSpPr/>
          <p:nvPr/>
        </p:nvSpPr>
        <p:spPr>
          <a:xfrm>
            <a:off x="640080" y="713232"/>
            <a:ext cx="640080" cy="640080"/>
          </a:xfrm>
          <a:prstGeom prst="ellipse">
            <a:avLst/>
          </a:prstGeom>
          <a:solidFill>
            <a:srgbClr val="3FB950"/>
          </a:solidFill>
          <a:ln/>
        </p:spPr>
      </p:sp>
      <p:sp>
        <p:nvSpPr>
          <p:cNvPr id="4" name="Text 2"/>
          <p:cNvSpPr/>
          <p:nvPr/>
        </p:nvSpPr>
        <p:spPr>
          <a:xfrm>
            <a:off x="640080" y="713232"/>
            <a:ext cx="640080" cy="64008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5</a:t>
            </a:r>
            <a:endParaRPr lang="en-US" sz="2000" dirty="0"/>
          </a:p>
        </p:txBody>
      </p:sp>
      <p:sp>
        <p:nvSpPr>
          <p:cNvPr id="5" name="Text 3"/>
          <p:cNvSpPr/>
          <p:nvPr/>
        </p:nvSpPr>
        <p:spPr>
          <a:xfrm>
            <a:off x="1508760" y="731520"/>
            <a:ext cx="10042855"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Review the diff</a:t>
            </a:r>
            <a:endParaRPr lang="en-US" sz="3000" dirty="0"/>
          </a:p>
        </p:txBody>
      </p:sp>
      <p:sp>
        <p:nvSpPr>
          <p:cNvPr id="6" name="Shape 4"/>
          <p:cNvSpPr/>
          <p:nvPr/>
        </p:nvSpPr>
        <p:spPr>
          <a:xfrm>
            <a:off x="640080" y="1965960"/>
            <a:ext cx="10911535" cy="3246120"/>
          </a:xfrm>
          <a:prstGeom prst="roundRect">
            <a:avLst>
              <a:gd name="adj" fmla="val 2535"/>
            </a:avLst>
          </a:prstGeom>
          <a:solidFill>
            <a:srgbClr val="161B22"/>
          </a:solidFill>
          <a:ln w="12700">
            <a:solidFill>
              <a:srgbClr val="30363D"/>
            </a:solidFill>
            <a:prstDash val="solid"/>
          </a:ln>
        </p:spPr>
      </p:sp>
      <p:sp>
        <p:nvSpPr>
          <p:cNvPr id="7" name="Shape 5"/>
          <p:cNvSpPr/>
          <p:nvPr/>
        </p:nvSpPr>
        <p:spPr>
          <a:xfrm>
            <a:off x="804672" y="2130552"/>
            <a:ext cx="91440" cy="91440"/>
          </a:xfrm>
          <a:prstGeom prst="ellipse">
            <a:avLst/>
          </a:prstGeom>
          <a:solidFill>
            <a:srgbClr val="FF5F56"/>
          </a:solidFill>
          <a:ln/>
        </p:spPr>
      </p:sp>
      <p:sp>
        <p:nvSpPr>
          <p:cNvPr id="8" name="Shape 6"/>
          <p:cNvSpPr/>
          <p:nvPr/>
        </p:nvSpPr>
        <p:spPr>
          <a:xfrm>
            <a:off x="950976" y="2130552"/>
            <a:ext cx="91440" cy="91440"/>
          </a:xfrm>
          <a:prstGeom prst="ellipse">
            <a:avLst/>
          </a:prstGeom>
          <a:solidFill>
            <a:srgbClr val="FFBD2E"/>
          </a:solidFill>
          <a:ln/>
        </p:spPr>
      </p:sp>
      <p:sp>
        <p:nvSpPr>
          <p:cNvPr id="9" name="Shape 7"/>
          <p:cNvSpPr/>
          <p:nvPr/>
        </p:nvSpPr>
        <p:spPr>
          <a:xfrm>
            <a:off x="1097280" y="2130552"/>
            <a:ext cx="91440" cy="91440"/>
          </a:xfrm>
          <a:prstGeom prst="ellipse">
            <a:avLst/>
          </a:prstGeom>
          <a:solidFill>
            <a:srgbClr val="27C93F"/>
          </a:solidFill>
          <a:ln/>
        </p:spPr>
      </p:sp>
      <p:sp>
        <p:nvSpPr>
          <p:cNvPr id="10" name="Text 8"/>
          <p:cNvSpPr/>
          <p:nvPr/>
        </p:nvSpPr>
        <p:spPr>
          <a:xfrm>
            <a:off x="9539935" y="207568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prompt to Codex</a:t>
            </a:r>
            <a:endParaRPr lang="en-US" sz="900" dirty="0"/>
          </a:p>
        </p:txBody>
      </p:sp>
      <p:sp>
        <p:nvSpPr>
          <p:cNvPr id="11" name="Text 9"/>
          <p:cNvSpPr/>
          <p:nvPr/>
        </p:nvSpPr>
        <p:spPr>
          <a:xfrm>
            <a:off x="896112" y="2423160"/>
            <a:ext cx="10408615" cy="2606040"/>
          </a:xfrm>
          <a:prstGeom prst="rect">
            <a:avLst/>
          </a:prstGeom>
          <a:noFill/>
          <a:ln/>
        </p:spPr>
        <p:txBody>
          <a:bodyPr wrap="square" lIns="0" tIns="0" rIns="0" bIns="0" rtlCol="0" anchor="t"/>
          <a:lstStyle/>
          <a:p>
            <a:pPr algn="l" indent="0" marL="0">
              <a:buNone/>
            </a:pPr>
            <a:r>
              <a:rPr lang="en-US" sz="1300" dirty="0">
                <a:solidFill>
                  <a:srgbClr val="E6EDF3"/>
                </a:solidFill>
                <a:latin typeface="Courier New" pitchFamily="34" charset="0"/>
                <a:ea typeface="Courier New" pitchFamily="34" charset="-122"/>
                <a:cs typeface="Courier New" pitchFamily="34" charset="-120"/>
              </a:rPr>
              <a:t>Show the full diff for my branch and confirm:</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1. only widgets/&lt;legal-id&gt;.js was added</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2. no shared file changed (index.html, loader.js,</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styles.css, registry.js)</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3. no other engineer's widget changed</a:t>
            </a: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  4. it registers with id = my legal ID and mounts</a:t>
            </a: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Do not commit yet.</a:t>
            </a:r>
            <a:endParaRPr lang="en-US" sz="1300" dirty="0"/>
          </a:p>
        </p:txBody>
      </p:sp>
      <p:sp>
        <p:nvSpPr>
          <p:cNvPr id="12" name="Text 10"/>
          <p:cNvSpPr/>
          <p:nvPr/>
        </p:nvSpPr>
        <p:spPr>
          <a:xfrm>
            <a:off x="640080" y="5394960"/>
            <a:ext cx="10911535" cy="457200"/>
          </a:xfrm>
          <a:prstGeom prst="rect">
            <a:avLst/>
          </a:prstGeom>
          <a:noFill/>
          <a:ln/>
        </p:spPr>
        <p:txBody>
          <a:bodyPr wrap="square"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Full prompts are in the Participant Guide.</a:t>
            </a:r>
            <a:endParaRPr lang="en-US" sz="1200" dirty="0"/>
          </a:p>
        </p:txBody>
      </p:sp>
      <p:sp>
        <p:nvSpPr>
          <p:cNvPr id="13" name="Text 11"/>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4" name="Text 12"/>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STEP 6 — COMMIT</a:t>
            </a:r>
            <a:endParaRPr lang="en-US" sz="1300" dirty="0"/>
          </a:p>
        </p:txBody>
      </p:sp>
      <p:sp>
        <p:nvSpPr>
          <p:cNvPr id="3" name="Shape 1"/>
          <p:cNvSpPr/>
          <p:nvPr/>
        </p:nvSpPr>
        <p:spPr>
          <a:xfrm>
            <a:off x="640080" y="713232"/>
            <a:ext cx="640080" cy="640080"/>
          </a:xfrm>
          <a:prstGeom prst="ellipse">
            <a:avLst/>
          </a:prstGeom>
          <a:solidFill>
            <a:srgbClr val="3FB950"/>
          </a:solidFill>
          <a:ln/>
        </p:spPr>
      </p:sp>
      <p:sp>
        <p:nvSpPr>
          <p:cNvPr id="4" name="Text 2"/>
          <p:cNvSpPr/>
          <p:nvPr/>
        </p:nvSpPr>
        <p:spPr>
          <a:xfrm>
            <a:off x="640080" y="713232"/>
            <a:ext cx="640080" cy="64008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6</a:t>
            </a:r>
            <a:endParaRPr lang="en-US" sz="2000" dirty="0"/>
          </a:p>
        </p:txBody>
      </p:sp>
      <p:sp>
        <p:nvSpPr>
          <p:cNvPr id="5" name="Text 3"/>
          <p:cNvSpPr/>
          <p:nvPr/>
        </p:nvSpPr>
        <p:spPr>
          <a:xfrm>
            <a:off x="1508760" y="731520"/>
            <a:ext cx="10042855"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Commit and push</a:t>
            </a:r>
            <a:endParaRPr lang="en-US" sz="3000" dirty="0"/>
          </a:p>
        </p:txBody>
      </p:sp>
      <p:sp>
        <p:nvSpPr>
          <p:cNvPr id="6" name="Shape 4"/>
          <p:cNvSpPr/>
          <p:nvPr/>
        </p:nvSpPr>
        <p:spPr>
          <a:xfrm>
            <a:off x="640080" y="1965960"/>
            <a:ext cx="10911535" cy="3246120"/>
          </a:xfrm>
          <a:prstGeom prst="roundRect">
            <a:avLst>
              <a:gd name="adj" fmla="val 2535"/>
            </a:avLst>
          </a:prstGeom>
          <a:solidFill>
            <a:srgbClr val="161B22"/>
          </a:solidFill>
          <a:ln w="12700">
            <a:solidFill>
              <a:srgbClr val="30363D"/>
            </a:solidFill>
            <a:prstDash val="solid"/>
          </a:ln>
        </p:spPr>
      </p:sp>
      <p:sp>
        <p:nvSpPr>
          <p:cNvPr id="7" name="Shape 5"/>
          <p:cNvSpPr/>
          <p:nvPr/>
        </p:nvSpPr>
        <p:spPr>
          <a:xfrm>
            <a:off x="804672" y="2130552"/>
            <a:ext cx="91440" cy="91440"/>
          </a:xfrm>
          <a:prstGeom prst="ellipse">
            <a:avLst/>
          </a:prstGeom>
          <a:solidFill>
            <a:srgbClr val="FF5F56"/>
          </a:solidFill>
          <a:ln/>
        </p:spPr>
      </p:sp>
      <p:sp>
        <p:nvSpPr>
          <p:cNvPr id="8" name="Shape 6"/>
          <p:cNvSpPr/>
          <p:nvPr/>
        </p:nvSpPr>
        <p:spPr>
          <a:xfrm>
            <a:off x="950976" y="2130552"/>
            <a:ext cx="91440" cy="91440"/>
          </a:xfrm>
          <a:prstGeom prst="ellipse">
            <a:avLst/>
          </a:prstGeom>
          <a:solidFill>
            <a:srgbClr val="FFBD2E"/>
          </a:solidFill>
          <a:ln/>
        </p:spPr>
      </p:sp>
      <p:sp>
        <p:nvSpPr>
          <p:cNvPr id="9" name="Shape 7"/>
          <p:cNvSpPr/>
          <p:nvPr/>
        </p:nvSpPr>
        <p:spPr>
          <a:xfrm>
            <a:off x="1097280" y="2130552"/>
            <a:ext cx="91440" cy="91440"/>
          </a:xfrm>
          <a:prstGeom prst="ellipse">
            <a:avLst/>
          </a:prstGeom>
          <a:solidFill>
            <a:srgbClr val="27C93F"/>
          </a:solidFill>
          <a:ln/>
        </p:spPr>
      </p:sp>
      <p:sp>
        <p:nvSpPr>
          <p:cNvPr id="10" name="Text 8"/>
          <p:cNvSpPr/>
          <p:nvPr/>
        </p:nvSpPr>
        <p:spPr>
          <a:xfrm>
            <a:off x="9539935" y="207568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prompt to Codex</a:t>
            </a:r>
            <a:endParaRPr lang="en-US" sz="900" dirty="0"/>
          </a:p>
        </p:txBody>
      </p:sp>
      <p:sp>
        <p:nvSpPr>
          <p:cNvPr id="11" name="Text 9"/>
          <p:cNvSpPr/>
          <p:nvPr/>
        </p:nvSpPr>
        <p:spPr>
          <a:xfrm>
            <a:off x="896112" y="2423160"/>
            <a:ext cx="10408615" cy="2606040"/>
          </a:xfrm>
          <a:prstGeom prst="rect">
            <a:avLst/>
          </a:prstGeom>
          <a:noFill/>
          <a:ln/>
        </p:spPr>
        <p:txBody>
          <a:bodyPr wrap="square" lIns="0" tIns="0" rIns="0" bIns="0" rtlCol="0" anchor="t"/>
          <a:lstStyle/>
          <a:p>
            <a:pPr algn="l" indent="0" marL="0">
              <a:buNone/>
            </a:pPr>
            <a:r>
              <a:rPr lang="en-US" sz="1300" dirty="0">
                <a:solidFill>
                  <a:srgbClr val="8B949E"/>
                </a:solidFill>
                <a:latin typeface="Courier New" pitchFamily="34" charset="0"/>
                <a:ea typeface="Courier New" pitchFamily="34" charset="-122"/>
                <a:cs typeface="Courier New" pitchFamily="34" charset="-120"/>
              </a:rPr>
              <a:t># You install nothing locally — the PR check validates</a:t>
            </a:r>
            <a:endParaRPr lang="en-US" sz="1300" dirty="0"/>
          </a:p>
          <a:p>
            <a:pPr algn="l" indent="0" marL="0">
              <a:buNone/>
            </a:pPr>
            <a:r>
              <a:rPr lang="en-US" sz="1300" dirty="0">
                <a:solidFill>
                  <a:srgbClr val="8B949E"/>
                </a:solidFill>
                <a:latin typeface="Courier New" pitchFamily="34" charset="0"/>
                <a:ea typeface="Courier New" pitchFamily="34" charset="-122"/>
                <a:cs typeface="Courier New" pitchFamily="34" charset="-120"/>
              </a:rPr>
              <a:t># your widget on GitHub in the next step.</a:t>
            </a:r>
            <a:endParaRPr lang="en-US" sz="1300" dirty="0"/>
          </a:p>
          <a:p>
            <a:pPr algn="l" indent="0" marL="0">
              <a:buNone/>
            </a:pP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Commit only widgets/&lt;legal-id&gt;.js with message:</a:t>
            </a:r>
            <a:endParaRPr lang="en-US" sz="1300" dirty="0"/>
          </a:p>
          <a:p>
            <a:pPr algn="l" indent="0" marL="0">
              <a:buNone/>
            </a:pPr>
            <a:r>
              <a:rPr lang="en-US" sz="1300" dirty="0">
                <a:solidFill>
                  <a:srgbClr val="A371F7"/>
                </a:solidFill>
                <a:latin typeface="Courier New" pitchFamily="34" charset="0"/>
                <a:ea typeface="Courier New" pitchFamily="34" charset="-122"/>
                <a:cs typeface="Courier New" pitchFamily="34" charset="-120"/>
              </a:rPr>
              <a:t>  "&lt;TASK-ID&gt;: add &lt;legal-id&gt; widget"</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Push workshop/&lt;legal-id&gt;. Do not push to main.</a:t>
            </a: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Do not force-push.</a:t>
            </a:r>
            <a:endParaRPr lang="en-US" sz="1300" dirty="0"/>
          </a:p>
        </p:txBody>
      </p:sp>
      <p:sp>
        <p:nvSpPr>
          <p:cNvPr id="12" name="Text 10"/>
          <p:cNvSpPr/>
          <p:nvPr/>
        </p:nvSpPr>
        <p:spPr>
          <a:xfrm>
            <a:off x="640080" y="5394960"/>
            <a:ext cx="10911535" cy="457200"/>
          </a:xfrm>
          <a:prstGeom prst="rect">
            <a:avLst/>
          </a:prstGeom>
          <a:noFill/>
          <a:ln/>
        </p:spPr>
        <p:txBody>
          <a:bodyPr wrap="square"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Full prompts are in the Participant Guide.</a:t>
            </a:r>
            <a:endParaRPr lang="en-US" sz="1200" dirty="0"/>
          </a:p>
        </p:txBody>
      </p:sp>
      <p:sp>
        <p:nvSpPr>
          <p:cNvPr id="13" name="Text 11"/>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4" name="Text 12"/>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STEP 7 — PULL REQUEST</a:t>
            </a:r>
            <a:endParaRPr lang="en-US" sz="1300" dirty="0"/>
          </a:p>
        </p:txBody>
      </p:sp>
      <p:sp>
        <p:nvSpPr>
          <p:cNvPr id="3" name="Shape 1"/>
          <p:cNvSpPr/>
          <p:nvPr/>
        </p:nvSpPr>
        <p:spPr>
          <a:xfrm>
            <a:off x="640080" y="713232"/>
            <a:ext cx="640080" cy="640080"/>
          </a:xfrm>
          <a:prstGeom prst="ellipse">
            <a:avLst/>
          </a:prstGeom>
          <a:solidFill>
            <a:srgbClr val="3FB950"/>
          </a:solidFill>
          <a:ln/>
        </p:spPr>
      </p:sp>
      <p:sp>
        <p:nvSpPr>
          <p:cNvPr id="4" name="Text 2"/>
          <p:cNvSpPr/>
          <p:nvPr/>
        </p:nvSpPr>
        <p:spPr>
          <a:xfrm>
            <a:off x="640080" y="713232"/>
            <a:ext cx="640080" cy="64008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7</a:t>
            </a:r>
            <a:endParaRPr lang="en-US" sz="2000" dirty="0"/>
          </a:p>
        </p:txBody>
      </p:sp>
      <p:sp>
        <p:nvSpPr>
          <p:cNvPr id="5" name="Text 3"/>
          <p:cNvSpPr/>
          <p:nvPr/>
        </p:nvSpPr>
        <p:spPr>
          <a:xfrm>
            <a:off x="1508760" y="731520"/>
            <a:ext cx="10042855"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Open the PR, let the check run</a:t>
            </a:r>
            <a:endParaRPr lang="en-US" sz="3000" dirty="0"/>
          </a:p>
        </p:txBody>
      </p:sp>
      <p:sp>
        <p:nvSpPr>
          <p:cNvPr id="6" name="Shape 4"/>
          <p:cNvSpPr/>
          <p:nvPr/>
        </p:nvSpPr>
        <p:spPr>
          <a:xfrm>
            <a:off x="640080" y="1965960"/>
            <a:ext cx="10911535" cy="3246120"/>
          </a:xfrm>
          <a:prstGeom prst="roundRect">
            <a:avLst>
              <a:gd name="adj" fmla="val 2535"/>
            </a:avLst>
          </a:prstGeom>
          <a:solidFill>
            <a:srgbClr val="161B22"/>
          </a:solidFill>
          <a:ln w="12700">
            <a:solidFill>
              <a:srgbClr val="30363D"/>
            </a:solidFill>
            <a:prstDash val="solid"/>
          </a:ln>
        </p:spPr>
      </p:sp>
      <p:sp>
        <p:nvSpPr>
          <p:cNvPr id="7" name="Shape 5"/>
          <p:cNvSpPr/>
          <p:nvPr/>
        </p:nvSpPr>
        <p:spPr>
          <a:xfrm>
            <a:off x="804672" y="2130552"/>
            <a:ext cx="91440" cy="91440"/>
          </a:xfrm>
          <a:prstGeom prst="ellipse">
            <a:avLst/>
          </a:prstGeom>
          <a:solidFill>
            <a:srgbClr val="FF5F56"/>
          </a:solidFill>
          <a:ln/>
        </p:spPr>
      </p:sp>
      <p:sp>
        <p:nvSpPr>
          <p:cNvPr id="8" name="Shape 6"/>
          <p:cNvSpPr/>
          <p:nvPr/>
        </p:nvSpPr>
        <p:spPr>
          <a:xfrm>
            <a:off x="950976" y="2130552"/>
            <a:ext cx="91440" cy="91440"/>
          </a:xfrm>
          <a:prstGeom prst="ellipse">
            <a:avLst/>
          </a:prstGeom>
          <a:solidFill>
            <a:srgbClr val="FFBD2E"/>
          </a:solidFill>
          <a:ln/>
        </p:spPr>
      </p:sp>
      <p:sp>
        <p:nvSpPr>
          <p:cNvPr id="9" name="Shape 7"/>
          <p:cNvSpPr/>
          <p:nvPr/>
        </p:nvSpPr>
        <p:spPr>
          <a:xfrm>
            <a:off x="1097280" y="2130552"/>
            <a:ext cx="91440" cy="91440"/>
          </a:xfrm>
          <a:prstGeom prst="ellipse">
            <a:avLst/>
          </a:prstGeom>
          <a:solidFill>
            <a:srgbClr val="27C93F"/>
          </a:solidFill>
          <a:ln/>
        </p:spPr>
      </p:sp>
      <p:sp>
        <p:nvSpPr>
          <p:cNvPr id="10" name="Text 8"/>
          <p:cNvSpPr/>
          <p:nvPr/>
        </p:nvSpPr>
        <p:spPr>
          <a:xfrm>
            <a:off x="9539935" y="207568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prompt to Codex</a:t>
            </a:r>
            <a:endParaRPr lang="en-US" sz="900" dirty="0"/>
          </a:p>
        </p:txBody>
      </p:sp>
      <p:sp>
        <p:nvSpPr>
          <p:cNvPr id="11" name="Text 9"/>
          <p:cNvSpPr/>
          <p:nvPr/>
        </p:nvSpPr>
        <p:spPr>
          <a:xfrm>
            <a:off x="896112" y="2423160"/>
            <a:ext cx="10408615" cy="2606040"/>
          </a:xfrm>
          <a:prstGeom prst="rect">
            <a:avLst/>
          </a:prstGeom>
          <a:noFill/>
          <a:ln/>
        </p:spPr>
        <p:txBody>
          <a:bodyPr wrap="square" lIns="0" tIns="0" rIns="0" bIns="0" rtlCol="0" anchor="t"/>
          <a:lstStyle/>
          <a:p>
            <a:pPr algn="l" indent="0" marL="0">
              <a:buNone/>
            </a:pPr>
            <a:r>
              <a:rPr lang="en-US" sz="1300" dirty="0">
                <a:solidFill>
                  <a:srgbClr val="E6EDF3"/>
                </a:solidFill>
                <a:latin typeface="Courier New" pitchFamily="34" charset="0"/>
                <a:ea typeface="Courier New" pitchFamily="34" charset="-122"/>
                <a:cs typeface="Courier New" pitchFamily="34" charset="-120"/>
              </a:rPr>
              <a:t>Open a PR from workshop/&lt;legal-id&gt; into main.</a:t>
            </a:r>
            <a:endParaRPr lang="en-US" sz="1300" dirty="0"/>
          </a:p>
          <a:p>
            <a:pPr algn="l" indent="0" marL="0">
              <a:buNone/>
            </a:pPr>
            <a:r>
              <a:rPr lang="en-US" sz="1300" dirty="0">
                <a:solidFill>
                  <a:srgbClr val="A371F7"/>
                </a:solidFill>
                <a:latin typeface="Courier New" pitchFamily="34" charset="0"/>
                <a:ea typeface="Courier New" pitchFamily="34" charset="-122"/>
                <a:cs typeface="Courier New" pitchFamily="34" charset="-120"/>
              </a:rPr>
              <a:t>  Title: "&lt;TASK-ID&gt;: add /&lt;legal-id&gt; widget"</a:t>
            </a:r>
            <a:endParaRPr lang="en-US" sz="1300" dirty="0"/>
          </a:p>
          <a:p>
            <a:pPr algn="l" indent="0" marL="0">
              <a:buNone/>
            </a:pPr>
            <a:r>
              <a:rPr lang="en-US" sz="1300" dirty="0">
                <a:solidFill>
                  <a:srgbClr val="E6EDF3"/>
                </a:solidFill>
                <a:latin typeface="Courier New" pitchFamily="34" charset="0"/>
                <a:ea typeface="Courier New" pitchFamily="34" charset="-122"/>
                <a:cs typeface="Courier New" pitchFamily="34" charset="-120"/>
              </a:rPr>
              <a:t>  Reference my Issue with "Closes #&lt;n&gt;".</a:t>
            </a:r>
            <a:endParaRPr lang="en-US" sz="1300" dirty="0"/>
          </a:p>
          <a:p>
            <a:pPr algn="l" indent="0" marL="0">
              <a:buNone/>
            </a:pPr>
            <a:r>
              <a:rPr lang="en-US" sz="1300" b="1" dirty="0">
                <a:solidFill>
                  <a:srgbClr val="3FB950"/>
                </a:solidFill>
                <a:latin typeface="Courier New" pitchFamily="34" charset="0"/>
                <a:ea typeface="Courier New" pitchFamily="34" charset="-122"/>
                <a:cs typeface="Courier New" pitchFamily="34" charset="-120"/>
              </a:rPr>
              <a:t>  Do not merge. Return the PR number.</a:t>
            </a:r>
            <a:endParaRPr lang="en-US" sz="1300" dirty="0"/>
          </a:p>
          <a:p>
            <a:pPr algn="l" indent="0" marL="0">
              <a:buNone/>
            </a:pPr>
            <a:endParaRPr lang="en-US" sz="1300" dirty="0"/>
          </a:p>
          <a:p>
            <a:pPr algn="l" indent="0" marL="0">
              <a:buNone/>
            </a:pPr>
            <a:r>
              <a:rPr lang="en-US" sz="1300" dirty="0">
                <a:solidFill>
                  <a:srgbClr val="8B949E"/>
                </a:solidFill>
                <a:latin typeface="Courier New" pitchFamily="34" charset="0"/>
                <a:ea typeface="Courier New" pitchFamily="34" charset="-122"/>
                <a:cs typeface="Courier New" pitchFamily="34" charset="-120"/>
              </a:rPr>
              <a:t># The PR check loads your widget headlessly and</a:t>
            </a:r>
            <a:endParaRPr lang="en-US" sz="1300" dirty="0"/>
          </a:p>
          <a:p>
            <a:pPr algn="l" indent="0" marL="0">
              <a:buNone/>
            </a:pPr>
            <a:r>
              <a:rPr lang="en-US" sz="1300" dirty="0">
                <a:solidFill>
                  <a:srgbClr val="8B949E"/>
                </a:solidFill>
                <a:latin typeface="Courier New" pitchFamily="34" charset="0"/>
                <a:ea typeface="Courier New" pitchFamily="34" charset="-122"/>
                <a:cs typeface="Courier New" pitchFamily="34" charset="-120"/>
              </a:rPr>
              <a:t># confirms it registers and works. Wait for green.</a:t>
            </a:r>
            <a:endParaRPr lang="en-US" sz="1300" dirty="0"/>
          </a:p>
        </p:txBody>
      </p:sp>
      <p:sp>
        <p:nvSpPr>
          <p:cNvPr id="12" name="Text 10"/>
          <p:cNvSpPr/>
          <p:nvPr/>
        </p:nvSpPr>
        <p:spPr>
          <a:xfrm>
            <a:off x="640080" y="5394960"/>
            <a:ext cx="10911535" cy="457200"/>
          </a:xfrm>
          <a:prstGeom prst="rect">
            <a:avLst/>
          </a:prstGeom>
          <a:noFill/>
          <a:ln/>
        </p:spPr>
        <p:txBody>
          <a:bodyPr wrap="square" rtlCol="0" anchor="ctr"/>
          <a:lstStyle/>
          <a:p>
            <a:pPr indent="0" marL="0">
              <a:buNone/>
            </a:pPr>
            <a:r>
              <a:rPr lang="en-US" sz="1400" i="1" dirty="0">
                <a:solidFill>
                  <a:srgbClr val="3FB950"/>
                </a:solidFill>
                <a:latin typeface="Calibri" pitchFamily="34" charset="0"/>
                <a:ea typeface="Calibri" pitchFamily="34" charset="-122"/>
                <a:cs typeface="Calibri" pitchFamily="34" charset="-120"/>
              </a:rPr>
              <a:t>If the check goes red: copy the log, paste it to Codex, and push again.</a:t>
            </a:r>
            <a:endParaRPr lang="en-US" sz="1400" dirty="0"/>
          </a:p>
        </p:txBody>
      </p:sp>
      <p:sp>
        <p:nvSpPr>
          <p:cNvPr id="13" name="Text 11"/>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4" name="Text 12"/>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STEP 8 — AFTER MERGE</a:t>
            </a:r>
            <a:endParaRPr lang="en-US" sz="1300" dirty="0"/>
          </a:p>
        </p:txBody>
      </p:sp>
      <p:sp>
        <p:nvSpPr>
          <p:cNvPr id="3" name="Shape 1"/>
          <p:cNvSpPr/>
          <p:nvPr/>
        </p:nvSpPr>
        <p:spPr>
          <a:xfrm>
            <a:off x="640080" y="713232"/>
            <a:ext cx="640080" cy="640080"/>
          </a:xfrm>
          <a:prstGeom prst="ellipse">
            <a:avLst/>
          </a:prstGeom>
          <a:solidFill>
            <a:srgbClr val="A371F7"/>
          </a:solidFill>
          <a:ln/>
        </p:spPr>
      </p:sp>
      <p:sp>
        <p:nvSpPr>
          <p:cNvPr id="4" name="Text 2"/>
          <p:cNvSpPr/>
          <p:nvPr/>
        </p:nvSpPr>
        <p:spPr>
          <a:xfrm>
            <a:off x="640080" y="713232"/>
            <a:ext cx="640080" cy="64008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8</a:t>
            </a:r>
            <a:endParaRPr lang="en-US" sz="2000" dirty="0"/>
          </a:p>
        </p:txBody>
      </p:sp>
      <p:sp>
        <p:nvSpPr>
          <p:cNvPr id="5" name="Text 3"/>
          <p:cNvSpPr/>
          <p:nvPr/>
        </p:nvSpPr>
        <p:spPr>
          <a:xfrm>
            <a:off x="1508760" y="731520"/>
            <a:ext cx="10042855" cy="6858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Merge, rebuild, live — automatically</a:t>
            </a:r>
            <a:endParaRPr lang="en-US" sz="2800" dirty="0"/>
          </a:p>
        </p:txBody>
      </p:sp>
      <p:sp>
        <p:nvSpPr>
          <p:cNvPr id="6" name="Shape 4"/>
          <p:cNvSpPr/>
          <p:nvPr/>
        </p:nvSpPr>
        <p:spPr>
          <a:xfrm>
            <a:off x="640080" y="2194560"/>
            <a:ext cx="3393338" cy="2468880"/>
          </a:xfrm>
          <a:prstGeom prst="roundRect">
            <a:avLst>
              <a:gd name="adj" fmla="val 3333"/>
            </a:avLst>
          </a:prstGeom>
          <a:solidFill>
            <a:srgbClr val="161B22"/>
          </a:solidFill>
          <a:ln w="12700">
            <a:solidFill>
              <a:srgbClr val="30363D"/>
            </a:solidFill>
            <a:prstDash val="solid"/>
          </a:ln>
        </p:spPr>
      </p:sp>
      <p:sp>
        <p:nvSpPr>
          <p:cNvPr id="7" name="Shape 5"/>
          <p:cNvSpPr/>
          <p:nvPr/>
        </p:nvSpPr>
        <p:spPr>
          <a:xfrm>
            <a:off x="960120" y="2514600"/>
            <a:ext cx="457200" cy="457200"/>
          </a:xfrm>
          <a:prstGeom prst="ellipse">
            <a:avLst/>
          </a:prstGeom>
          <a:solidFill>
            <a:srgbClr val="3FB950"/>
          </a:solidFill>
          <a:ln/>
        </p:spPr>
      </p:sp>
      <p:sp>
        <p:nvSpPr>
          <p:cNvPr id="8" name="Text 6"/>
          <p:cNvSpPr/>
          <p:nvPr/>
        </p:nvSpPr>
        <p:spPr>
          <a:xfrm>
            <a:off x="960120" y="3154680"/>
            <a:ext cx="2753258"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Merge</a:t>
            </a:r>
            <a:endParaRPr lang="en-US" sz="1900" dirty="0"/>
          </a:p>
        </p:txBody>
      </p:sp>
      <p:sp>
        <p:nvSpPr>
          <p:cNvPr id="9" name="Text 7"/>
          <p:cNvSpPr/>
          <p:nvPr/>
        </p:nvSpPr>
        <p:spPr>
          <a:xfrm>
            <a:off x="960120" y="3611880"/>
            <a:ext cx="2753258" cy="914400"/>
          </a:xfrm>
          <a:prstGeom prst="rect">
            <a:avLst/>
          </a:prstGeom>
          <a:noFill/>
          <a:ln/>
        </p:spPr>
        <p:txBody>
          <a:bodyPr wrap="square" rtlCol="0" anchor="t"/>
          <a:lstStyle/>
          <a:p>
            <a:pPr indent="0" marL="0">
              <a:buNone/>
            </a:pPr>
            <a:r>
              <a:rPr lang="en-US" sz="1400" dirty="0">
                <a:solidFill>
                  <a:srgbClr val="8B949E"/>
                </a:solidFill>
                <a:latin typeface="Calibri" pitchFamily="34" charset="0"/>
                <a:ea typeface="Calibri" pitchFamily="34" charset="-122"/>
                <a:cs typeface="Calibri" pitchFamily="34" charset="-120"/>
              </a:rPr>
              <a:t>The facilitator reviews your green PR and merges it.</a:t>
            </a:r>
            <a:endParaRPr lang="en-US" sz="1400" dirty="0"/>
          </a:p>
        </p:txBody>
      </p:sp>
      <p:sp>
        <p:nvSpPr>
          <p:cNvPr id="10" name="Shape 8"/>
          <p:cNvSpPr/>
          <p:nvPr/>
        </p:nvSpPr>
        <p:spPr>
          <a:xfrm>
            <a:off x="4399178" y="2194560"/>
            <a:ext cx="3393338" cy="2468880"/>
          </a:xfrm>
          <a:prstGeom prst="roundRect">
            <a:avLst>
              <a:gd name="adj" fmla="val 3333"/>
            </a:avLst>
          </a:prstGeom>
          <a:solidFill>
            <a:srgbClr val="161B22"/>
          </a:solidFill>
          <a:ln w="12700">
            <a:solidFill>
              <a:srgbClr val="30363D"/>
            </a:solidFill>
            <a:prstDash val="solid"/>
          </a:ln>
        </p:spPr>
      </p:sp>
      <p:sp>
        <p:nvSpPr>
          <p:cNvPr id="11" name="Shape 9"/>
          <p:cNvSpPr/>
          <p:nvPr/>
        </p:nvSpPr>
        <p:spPr>
          <a:xfrm>
            <a:off x="4719218" y="2514600"/>
            <a:ext cx="457200" cy="457200"/>
          </a:xfrm>
          <a:prstGeom prst="ellipse">
            <a:avLst/>
          </a:prstGeom>
          <a:solidFill>
            <a:srgbClr val="A371F7"/>
          </a:solidFill>
          <a:ln/>
        </p:spPr>
      </p:sp>
      <p:sp>
        <p:nvSpPr>
          <p:cNvPr id="12" name="Text 10"/>
          <p:cNvSpPr/>
          <p:nvPr/>
        </p:nvSpPr>
        <p:spPr>
          <a:xfrm>
            <a:off x="4719218" y="3154680"/>
            <a:ext cx="2753258"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Rebuild + deploy</a:t>
            </a:r>
            <a:endParaRPr lang="en-US" sz="1900" dirty="0"/>
          </a:p>
        </p:txBody>
      </p:sp>
      <p:sp>
        <p:nvSpPr>
          <p:cNvPr id="13" name="Text 11"/>
          <p:cNvSpPr/>
          <p:nvPr/>
        </p:nvSpPr>
        <p:spPr>
          <a:xfrm>
            <a:off x="4719218" y="3611880"/>
            <a:ext cx="2753258" cy="914400"/>
          </a:xfrm>
          <a:prstGeom prst="rect">
            <a:avLst/>
          </a:prstGeom>
          <a:noFill/>
          <a:ln/>
        </p:spPr>
        <p:txBody>
          <a:bodyPr wrap="square" rtlCol="0" anchor="t"/>
          <a:lstStyle/>
          <a:p>
            <a:pPr indent="0" marL="0">
              <a:buNone/>
            </a:pPr>
            <a:r>
              <a:rPr lang="en-US" sz="1400" dirty="0">
                <a:solidFill>
                  <a:srgbClr val="8B949E"/>
                </a:solidFill>
                <a:latin typeface="Calibri" pitchFamily="34" charset="0"/>
                <a:ea typeface="Calibri" pitchFamily="34" charset="-122"/>
                <a:cs typeface="Calibri" pitchFamily="34" charset="-120"/>
              </a:rPr>
              <a:t>GitHub Actions regenerates the wall and redeploys it to Pages.</a:t>
            </a:r>
            <a:endParaRPr lang="en-US" sz="1400" dirty="0"/>
          </a:p>
        </p:txBody>
      </p:sp>
      <p:sp>
        <p:nvSpPr>
          <p:cNvPr id="14" name="Shape 12"/>
          <p:cNvSpPr/>
          <p:nvPr/>
        </p:nvSpPr>
        <p:spPr>
          <a:xfrm>
            <a:off x="8158277" y="2194560"/>
            <a:ext cx="3393338" cy="2468880"/>
          </a:xfrm>
          <a:prstGeom prst="roundRect">
            <a:avLst>
              <a:gd name="adj" fmla="val 3333"/>
            </a:avLst>
          </a:prstGeom>
          <a:solidFill>
            <a:srgbClr val="161B22"/>
          </a:solidFill>
          <a:ln w="12700">
            <a:solidFill>
              <a:srgbClr val="30363D"/>
            </a:solidFill>
            <a:prstDash val="solid"/>
          </a:ln>
        </p:spPr>
      </p:sp>
      <p:sp>
        <p:nvSpPr>
          <p:cNvPr id="15" name="Shape 13"/>
          <p:cNvSpPr/>
          <p:nvPr/>
        </p:nvSpPr>
        <p:spPr>
          <a:xfrm>
            <a:off x="8478317" y="2514600"/>
            <a:ext cx="457200" cy="457200"/>
          </a:xfrm>
          <a:prstGeom prst="ellipse">
            <a:avLst/>
          </a:prstGeom>
          <a:solidFill>
            <a:srgbClr val="2F81F7"/>
          </a:solidFill>
          <a:ln/>
        </p:spPr>
      </p:sp>
      <p:sp>
        <p:nvSpPr>
          <p:cNvPr id="16" name="Text 14"/>
          <p:cNvSpPr/>
          <p:nvPr/>
        </p:nvSpPr>
        <p:spPr>
          <a:xfrm>
            <a:off x="8478317" y="3154680"/>
            <a:ext cx="2753258"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See it live</a:t>
            </a:r>
            <a:endParaRPr lang="en-US" sz="1900" dirty="0"/>
          </a:p>
        </p:txBody>
      </p:sp>
      <p:sp>
        <p:nvSpPr>
          <p:cNvPr id="17" name="Text 15"/>
          <p:cNvSpPr/>
          <p:nvPr/>
        </p:nvSpPr>
        <p:spPr>
          <a:xfrm>
            <a:off x="8478317" y="3611880"/>
            <a:ext cx="2753258" cy="914400"/>
          </a:xfrm>
          <a:prstGeom prst="rect">
            <a:avLst/>
          </a:prstGeom>
          <a:noFill/>
          <a:ln/>
        </p:spPr>
        <p:txBody>
          <a:bodyPr wrap="square" rtlCol="0" anchor="t"/>
          <a:lstStyle/>
          <a:p>
            <a:pPr indent="0" marL="0">
              <a:buNone/>
            </a:pPr>
            <a:r>
              <a:rPr lang="en-US" sz="1400" dirty="0">
                <a:solidFill>
                  <a:srgbClr val="8B949E"/>
                </a:solidFill>
                <a:latin typeface="Calibri" pitchFamily="34" charset="0"/>
                <a:ea typeface="Calibri" pitchFamily="34" charset="-122"/>
                <a:cs typeface="Calibri" pitchFamily="34" charset="-120"/>
              </a:rPr>
              <a:t>Refresh the URL — your card is now on the wall with everyone's.</a:t>
            </a:r>
            <a:endParaRPr lang="en-US" sz="1400" dirty="0"/>
          </a:p>
        </p:txBody>
      </p:sp>
      <p:sp>
        <p:nvSpPr>
          <p:cNvPr id="18" name="Text 16"/>
          <p:cNvSpPr/>
          <p:nvPr/>
        </p:nvSpPr>
        <p:spPr>
          <a:xfrm>
            <a:off x="640080" y="5120640"/>
            <a:ext cx="10911535" cy="365760"/>
          </a:xfrm>
          <a:prstGeom prst="rect">
            <a:avLst/>
          </a:prstGeom>
          <a:noFill/>
          <a:ln/>
        </p:spPr>
        <p:txBody>
          <a:bodyPr wrap="square" rtlCol="0" anchor="ctr"/>
          <a:lstStyle/>
          <a:p>
            <a:pPr algn="ctr" indent="0" marL="0">
              <a:buNone/>
            </a:pPr>
            <a:r>
              <a:rPr lang="en-US" sz="1400" i="1" dirty="0">
                <a:solidFill>
                  <a:srgbClr val="8B949E"/>
                </a:solidFill>
                <a:latin typeface="Calibri" pitchFamily="34" charset="0"/>
                <a:ea typeface="Calibri" pitchFamily="34" charset="-122"/>
                <a:cs typeface="Calibri" pitchFamily="34" charset="-120"/>
              </a:rPr>
              <a:t>Merges happen in batches — a burst of deploys collapses to the latest one.</a:t>
            </a:r>
            <a:endParaRPr lang="en-US" sz="1400" dirty="0"/>
          </a:p>
        </p:txBody>
      </p:sp>
      <p:sp>
        <p:nvSpPr>
          <p:cNvPr id="19" name="Text 17"/>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20" name="Text 18"/>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57200"/>
            <a:ext cx="8229600" cy="274320"/>
          </a:xfrm>
          <a:prstGeom prst="rect">
            <a:avLst/>
          </a:prstGeom>
          <a:noFill/>
          <a:ln/>
        </p:spPr>
        <p:txBody>
          <a:bodyPr wrap="square" rtlCol="0" anchor="ctr"/>
          <a:lstStyle/>
          <a:p>
            <a:pPr indent="0" marL="0">
              <a:buNone/>
            </a:pPr>
            <a:r>
              <a:rPr lang="en-US" sz="1300" b="1" spc="300" kern="0" dirty="0">
                <a:solidFill>
                  <a:srgbClr val="3FB950"/>
                </a:solidFill>
                <a:latin typeface="Calibri" pitchFamily="34" charset="0"/>
                <a:ea typeface="Calibri" pitchFamily="34" charset="-122"/>
                <a:cs typeface="Calibri" pitchFamily="34" charset="-120"/>
              </a:rPr>
              <a:t>GUARDRAILS</a:t>
            </a:r>
            <a:endParaRPr lang="en-US" sz="1300" dirty="0"/>
          </a:p>
        </p:txBody>
      </p:sp>
      <p:sp>
        <p:nvSpPr>
          <p:cNvPr id="3" name="Text 1"/>
          <p:cNvSpPr/>
          <p:nvPr/>
        </p:nvSpPr>
        <p:spPr>
          <a:xfrm>
            <a:off x="640080" y="749808"/>
            <a:ext cx="10911535" cy="8229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The contract &amp; the rules</a:t>
            </a:r>
            <a:endParaRPr lang="en-US" sz="3400" dirty="0"/>
          </a:p>
        </p:txBody>
      </p:sp>
      <p:sp>
        <p:nvSpPr>
          <p:cNvPr id="4" name="Shape 2"/>
          <p:cNvSpPr/>
          <p:nvPr/>
        </p:nvSpPr>
        <p:spPr>
          <a:xfrm>
            <a:off x="640080" y="2103120"/>
            <a:ext cx="5486400" cy="3017520"/>
          </a:xfrm>
          <a:prstGeom prst="roundRect">
            <a:avLst>
              <a:gd name="adj" fmla="val 2727"/>
            </a:avLst>
          </a:prstGeom>
          <a:solidFill>
            <a:srgbClr val="161B22"/>
          </a:solidFill>
          <a:ln w="12700">
            <a:solidFill>
              <a:srgbClr val="30363D"/>
            </a:solidFill>
            <a:prstDash val="solid"/>
          </a:ln>
        </p:spPr>
      </p:sp>
      <p:sp>
        <p:nvSpPr>
          <p:cNvPr id="5" name="Text 3"/>
          <p:cNvSpPr/>
          <p:nvPr/>
        </p:nvSpPr>
        <p:spPr>
          <a:xfrm>
            <a:off x="1005840" y="2286000"/>
            <a:ext cx="457200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widget contract</a:t>
            </a:r>
            <a:endParaRPr lang="en-US" sz="1700" dirty="0"/>
          </a:p>
        </p:txBody>
      </p:sp>
      <p:sp>
        <p:nvSpPr>
          <p:cNvPr id="6" name="Text 4"/>
          <p:cNvSpPr/>
          <p:nvPr/>
        </p:nvSpPr>
        <p:spPr>
          <a:xfrm>
            <a:off x="1097280" y="2743200"/>
            <a:ext cx="4663440" cy="2011680"/>
          </a:xfrm>
          <a:prstGeom prst="rect">
            <a:avLst/>
          </a:prstGeom>
          <a:noFill/>
          <a:ln/>
        </p:spPr>
        <p:txBody>
          <a:bodyPr wrap="square" rtlCol="0" anchor="t"/>
          <a:lstStyle/>
          <a:p>
            <a:pPr marL="342900" indent="-3429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id must equal your file name</a:t>
            </a:r>
            <a:endParaRPr lang="en-US" sz="1500" dirty="0"/>
          </a:p>
          <a:p>
            <a:pPr marL="342900" indent="-3429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Build everything inside root</a:t>
            </a:r>
            <a:endParaRPr lang="en-US" sz="1500" dirty="0"/>
          </a:p>
          <a:p>
            <a:pPr marL="342900" indent="-342900">
              <a:buSzPct val="100000"/>
              <a:buChar char="•"/>
            </a:pPr>
            <a:r>
              <a:rPr lang="en-US" sz="1500" dirty="0">
                <a:solidFill>
                  <a:srgbClr val="E6EDF3"/>
                </a:solidFill>
                <a:latin typeface="Calibri" pitchFamily="34" charset="0"/>
                <a:ea typeface="Calibri" pitchFamily="34" charset="-122"/>
                <a:cs typeface="Calibri" pitchFamily="34" charset="-120"/>
              </a:rPr>
              <a:t>Self-contained — no libraries, no network</a:t>
            </a:r>
            <a:endParaRPr lang="en-US" sz="1500" dirty="0"/>
          </a:p>
        </p:txBody>
      </p:sp>
      <p:sp>
        <p:nvSpPr>
          <p:cNvPr id="7" name="Shape 5"/>
          <p:cNvSpPr/>
          <p:nvPr/>
        </p:nvSpPr>
        <p:spPr>
          <a:xfrm>
            <a:off x="6492240" y="2103120"/>
            <a:ext cx="5059375" cy="3017520"/>
          </a:xfrm>
          <a:prstGeom prst="roundRect">
            <a:avLst>
              <a:gd name="adj" fmla="val 2727"/>
            </a:avLst>
          </a:prstGeom>
          <a:solidFill>
            <a:srgbClr val="161B22"/>
          </a:solidFill>
          <a:ln w="12700">
            <a:solidFill>
              <a:srgbClr val="30363D"/>
            </a:solidFill>
            <a:prstDash val="solid"/>
          </a:ln>
        </p:spPr>
      </p:sp>
      <p:sp>
        <p:nvSpPr>
          <p:cNvPr id="8" name="Text 6"/>
          <p:cNvSpPr/>
          <p:nvPr/>
        </p:nvSpPr>
        <p:spPr>
          <a:xfrm>
            <a:off x="6858000" y="2286000"/>
            <a:ext cx="365760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Rules</a:t>
            </a:r>
            <a:endParaRPr lang="en-US" sz="1700" dirty="0"/>
          </a:p>
        </p:txBody>
      </p:sp>
      <p:sp>
        <p:nvSpPr>
          <p:cNvPr id="9" name="Text 7"/>
          <p:cNvSpPr/>
          <p:nvPr/>
        </p:nvSpPr>
        <p:spPr>
          <a:xfrm>
            <a:off x="6949440" y="2743200"/>
            <a:ext cx="4236415" cy="2194560"/>
          </a:xfrm>
          <a:prstGeom prst="rect">
            <a:avLst/>
          </a:prstGeom>
          <a:noFill/>
          <a:ln/>
        </p:spPr>
        <p:txBody>
          <a:bodyPr wrap="square" rtlCol="0" anchor="t"/>
          <a:lstStyle/>
          <a:p>
            <a:pPr marL="342900" indent="-3429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One widget per file, named by your legal ID</a:t>
            </a:r>
            <a:endParaRPr lang="en-US" sz="1500" dirty="0"/>
          </a:p>
          <a:p>
            <a:pPr marL="342900" indent="-342900">
              <a:spcAft>
                <a:spcPts val="1000"/>
              </a:spcAft>
              <a:buSzPct val="100000"/>
              <a:buChar char="•"/>
            </a:pPr>
            <a:r>
              <a:rPr lang="en-US" sz="1500" b="1" dirty="0">
                <a:solidFill>
                  <a:srgbClr val="3FB950"/>
                </a:solidFill>
                <a:latin typeface="Calibri" pitchFamily="34" charset="0"/>
                <a:ea typeface="Calibri" pitchFamily="34" charset="-122"/>
                <a:cs typeface="Calibri" pitchFamily="34" charset="-120"/>
              </a:rPr>
              <a:t>Never edit index.html, loader.js, styles.css, registry.js, or others' widgets</a:t>
            </a:r>
            <a:endParaRPr lang="en-US" sz="1500" dirty="0"/>
          </a:p>
          <a:p>
            <a:pPr marL="342900" indent="-3429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No credentials or secrets anywhere</a:t>
            </a:r>
            <a:endParaRPr lang="en-US" sz="1500" dirty="0"/>
          </a:p>
          <a:p>
            <a:pPr marL="342900" indent="-342900">
              <a:buSzPct val="100000"/>
              <a:buChar char="•"/>
            </a:pPr>
            <a:r>
              <a:rPr lang="en-US" sz="1500" dirty="0">
                <a:solidFill>
                  <a:srgbClr val="E6EDF3"/>
                </a:solidFill>
                <a:latin typeface="Calibri" pitchFamily="34" charset="0"/>
                <a:ea typeface="Calibri" pitchFamily="34" charset="-122"/>
                <a:cs typeface="Calibri" pitchFamily="34" charset="-120"/>
              </a:rPr>
              <a:t>Read the PR check; fix red before merge</a:t>
            </a:r>
            <a:endParaRPr lang="en-US" sz="1500" dirty="0"/>
          </a:p>
        </p:txBody>
      </p:sp>
      <p:sp>
        <p:nvSpPr>
          <p:cNvPr id="10" name="Text 8"/>
          <p:cNvSpPr/>
          <p:nvPr/>
        </p:nvSpPr>
        <p:spPr>
          <a:xfrm>
            <a:off x="640080" y="6400800"/>
            <a:ext cx="731520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Codex + GitHub Workshop  ·  LN Network</a:t>
            </a:r>
            <a:endParaRPr lang="en-US" sz="1000" dirty="0"/>
          </a:p>
        </p:txBody>
      </p:sp>
      <p:sp>
        <p:nvSpPr>
          <p:cNvPr id="11" name="Text 9"/>
          <p:cNvSpPr/>
          <p:nvPr/>
        </p:nvSpPr>
        <p:spPr>
          <a:xfrm>
            <a:off x="11002975" y="6400800"/>
            <a:ext cx="548640" cy="274320"/>
          </a:xfrm>
          <a:prstGeom prst="rect">
            <a:avLst/>
          </a:prstGeom>
          <a:noFill/>
          <a:ln/>
        </p:spPr>
        <p:txBody>
          <a:bodyPr wrap="square"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103120"/>
            <a:ext cx="9144000" cy="365760"/>
          </a:xfrm>
          <a:prstGeom prst="rect">
            <a:avLst/>
          </a:prstGeom>
          <a:noFill/>
          <a:ln/>
        </p:spPr>
        <p:txBody>
          <a:bodyPr wrap="square" rtlCol="0" anchor="ctr"/>
          <a:lstStyle/>
          <a:p>
            <a:pPr indent="0" marL="0">
              <a:buNone/>
            </a:pPr>
            <a:r>
              <a:rPr lang="en-US" sz="1500" b="1" spc="400" kern="0" dirty="0">
                <a:solidFill>
                  <a:srgbClr val="3FB950"/>
                </a:solidFill>
                <a:latin typeface="Calibri" pitchFamily="34" charset="0"/>
                <a:ea typeface="Calibri" pitchFamily="34" charset="-122"/>
                <a:cs typeface="Calibri" pitchFamily="34" charset="-120"/>
              </a:rPr>
              <a:t>LET'S BUILD</a:t>
            </a:r>
            <a:endParaRPr lang="en-US" sz="1500" dirty="0"/>
          </a:p>
        </p:txBody>
      </p:sp>
      <p:sp>
        <p:nvSpPr>
          <p:cNvPr id="3" name="Text 1"/>
          <p:cNvSpPr/>
          <p:nvPr/>
        </p:nvSpPr>
        <p:spPr>
          <a:xfrm>
            <a:off x="640080" y="2560320"/>
            <a:ext cx="10515600" cy="100584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Create your branch to get started.</a:t>
            </a:r>
            <a:endParaRPr lang="en-US" sz="4200" dirty="0"/>
          </a:p>
        </p:txBody>
      </p:sp>
      <p:sp>
        <p:nvSpPr>
          <p:cNvPr id="4" name="Shape 2"/>
          <p:cNvSpPr/>
          <p:nvPr/>
        </p:nvSpPr>
        <p:spPr>
          <a:xfrm>
            <a:off x="640080" y="3840480"/>
            <a:ext cx="6400800" cy="1097280"/>
          </a:xfrm>
          <a:prstGeom prst="roundRect">
            <a:avLst>
              <a:gd name="adj" fmla="val 7500"/>
            </a:avLst>
          </a:prstGeom>
          <a:solidFill>
            <a:srgbClr val="161B22"/>
          </a:solidFill>
          <a:ln w="12700">
            <a:solidFill>
              <a:srgbClr val="30363D"/>
            </a:solidFill>
            <a:prstDash val="solid"/>
          </a:ln>
        </p:spPr>
      </p:sp>
      <p:sp>
        <p:nvSpPr>
          <p:cNvPr id="5" name="Shape 3"/>
          <p:cNvSpPr/>
          <p:nvPr/>
        </p:nvSpPr>
        <p:spPr>
          <a:xfrm>
            <a:off x="804672" y="4005072"/>
            <a:ext cx="91440" cy="91440"/>
          </a:xfrm>
          <a:prstGeom prst="ellipse">
            <a:avLst/>
          </a:prstGeom>
          <a:solidFill>
            <a:srgbClr val="FF5F56"/>
          </a:solidFill>
          <a:ln/>
        </p:spPr>
      </p:sp>
      <p:sp>
        <p:nvSpPr>
          <p:cNvPr id="6" name="Shape 4"/>
          <p:cNvSpPr/>
          <p:nvPr/>
        </p:nvSpPr>
        <p:spPr>
          <a:xfrm>
            <a:off x="950976" y="4005072"/>
            <a:ext cx="91440" cy="91440"/>
          </a:xfrm>
          <a:prstGeom prst="ellipse">
            <a:avLst/>
          </a:prstGeom>
          <a:solidFill>
            <a:srgbClr val="FFBD2E"/>
          </a:solidFill>
          <a:ln/>
        </p:spPr>
      </p:sp>
      <p:sp>
        <p:nvSpPr>
          <p:cNvPr id="7" name="Shape 5"/>
          <p:cNvSpPr/>
          <p:nvPr/>
        </p:nvSpPr>
        <p:spPr>
          <a:xfrm>
            <a:off x="1097280" y="4005072"/>
            <a:ext cx="91440" cy="91440"/>
          </a:xfrm>
          <a:prstGeom prst="ellipse">
            <a:avLst/>
          </a:prstGeom>
          <a:solidFill>
            <a:srgbClr val="27C93F"/>
          </a:solidFill>
          <a:ln/>
        </p:spPr>
      </p:sp>
      <p:sp>
        <p:nvSpPr>
          <p:cNvPr id="8" name="Text 6"/>
          <p:cNvSpPr/>
          <p:nvPr/>
        </p:nvSpPr>
        <p:spPr>
          <a:xfrm>
            <a:off x="5029200" y="3950208"/>
            <a:ext cx="1828800" cy="228600"/>
          </a:xfrm>
          <a:prstGeom prst="rect">
            <a:avLst/>
          </a:prstGeom>
          <a:noFill/>
          <a:ln/>
        </p:spPr>
        <p:txBody>
          <a:bodyPr wrap="square" lIns="0" tIns="0" rIns="0" bIns="0"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branch from main</a:t>
            </a:r>
            <a:endParaRPr lang="en-US" sz="900" dirty="0"/>
          </a:p>
        </p:txBody>
      </p:sp>
      <p:sp>
        <p:nvSpPr>
          <p:cNvPr id="9" name="Text 7"/>
          <p:cNvSpPr/>
          <p:nvPr/>
        </p:nvSpPr>
        <p:spPr>
          <a:xfrm>
            <a:off x="896112" y="4297680"/>
            <a:ext cx="5897880" cy="457200"/>
          </a:xfrm>
          <a:prstGeom prst="rect">
            <a:avLst/>
          </a:prstGeom>
          <a:noFill/>
          <a:ln/>
        </p:spPr>
        <p:txBody>
          <a:bodyPr wrap="square" lIns="0" tIns="0" rIns="0" bIns="0" rtlCol="0" anchor="t"/>
          <a:lstStyle/>
          <a:p>
            <a:pPr algn="l" indent="0" marL="0">
              <a:buNone/>
            </a:pPr>
            <a:r>
              <a:rPr lang="en-US" sz="1600" b="1" dirty="0">
                <a:solidFill>
                  <a:srgbClr val="3FB950"/>
                </a:solidFill>
                <a:latin typeface="Courier New" pitchFamily="34" charset="0"/>
                <a:ea typeface="Courier New" pitchFamily="34" charset="-122"/>
                <a:cs typeface="Courier New" pitchFamily="34" charset="-120"/>
              </a:rPr>
              <a:t>workshop/&lt;your-legal-id&gt;</a:t>
            </a:r>
            <a:endParaRPr lang="en-US" sz="1600" dirty="0"/>
          </a:p>
        </p:txBody>
      </p:sp>
      <p:sp>
        <p:nvSpPr>
          <p:cNvPr id="10" name="Text 8"/>
          <p:cNvSpPr/>
          <p:nvPr/>
        </p:nvSpPr>
        <p:spPr>
          <a:xfrm>
            <a:off x="640080" y="5852160"/>
            <a:ext cx="10058400" cy="365760"/>
          </a:xfrm>
          <a:prstGeom prst="rect">
            <a:avLst/>
          </a:prstGeom>
          <a:noFill/>
          <a:ln/>
        </p:spPr>
        <p:txBody>
          <a:bodyPr wrap="square" rtlCol="0" anchor="ctr"/>
          <a:lstStyle/>
          <a:p>
            <a:pPr indent="0" marL="0">
              <a:buNone/>
            </a:pPr>
            <a:r>
              <a:rPr lang="en-US" sz="1400" dirty="0">
                <a:solidFill>
                  <a:srgbClr val="8B949E"/>
                </a:solidFill>
                <a:latin typeface="Calibri" pitchFamily="34" charset="0"/>
                <a:ea typeface="Calibri" pitchFamily="34" charset="-122"/>
                <a:cs typeface="Calibri" pitchFamily="34" charset="-120"/>
              </a:rPr>
              <a:t>Guides in the repo:  PARTICIPANT_GUIDE.md  ·  PROMPTING_GUIDE.md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2026-07-28T10:52:44Z</dcterms:created>
  <dcterms:modified xsi:type="dcterms:W3CDTF">2026-07-28T10:52:44Z</dcterms:modified>
</cp:coreProperties>
</file>